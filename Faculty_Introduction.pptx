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 personally: background, hometown, how you got into CS. A photo makes you approachable. ~90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~60 seconds. Students want to know your style, not a full CV. #2 sets expectations for this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60-second overview of your research. Students want to know what excites you and how it might connect to their future.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point. Invite any quick questions about Part 1 before continuing.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Conversational — students want to know your values. Keep to ~60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60-second roadmap overview. Emphasize the project-based progression — each phase builds toward the final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a real example where you changed course based on feedback — it builds trust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P-E-M-C: your teaching operating model. ~45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the timeline concretely. Students and colleagues want to know this is a real plan, not a vague aspiration.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most important intellectual argument. Acknowledge LLMs honestly. The key: competition training builds the meta-skills that make an engineer valuable *because* of AI, not despite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with warmth and a clear invitation. Leave time for 2-3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1371600"/>
            <a:ext cx="4572000" cy="4572000"/>
          </a:xfrm>
          <a:prstGeom prst="ellipse">
            <a:avLst/>
          </a:prstGeom>
          <a:solidFill>
            <a:srgbClr val="065A82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132320" y="2286000"/>
            <a:ext cx="3657600" cy="3657600"/>
          </a:xfrm>
          <a:prstGeom prst="ellipse">
            <a:avLst/>
          </a:prstGeom>
          <a:solidFill>
            <a:srgbClr val="1C7293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68580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1D1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Hello, I’m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Jiarui Zhang</a:t>
            </a:r>
            <a:endParaRPr lang="en-US" sz="5200" dirty="0"/>
          </a:p>
        </p:txBody>
      </p:sp>
      <p:sp>
        <p:nvSpPr>
          <p:cNvPr id="6" name="Shape 4"/>
          <p:cNvSpPr/>
          <p:nvPr/>
        </p:nvSpPr>
        <p:spPr>
          <a:xfrm>
            <a:off x="731520" y="2377440"/>
            <a:ext cx="2286000" cy="36576"/>
          </a:xfrm>
          <a:prstGeom prst="rect">
            <a:avLst/>
          </a:prstGeom>
          <a:solidFill>
            <a:srgbClr val="21D19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56032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Department of Computer Engineering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A7184"/>
                </a:solidFill>
              </a:rPr>
              <a:t>[Institution Name]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65A82">
              <a:alpha val="7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4754880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15-Minute Faculty Introduction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</a:rPr>
              <a:t>2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7184"/>
                </a:solidFill>
              </a:rPr>
              <a:t>Faculty Introduction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4572000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143000"/>
            <a:ext cx="41605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D3A"/>
                </a:solidFill>
              </a:rPr>
              <a:t>Education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5A7184"/>
                </a:solidFill>
              </a:rPr>
              <a:t>B.Eng. in Computer Engineering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5A7184"/>
                </a:solidFill>
              </a:rPr>
              <a:t>M.Sc. / Ph.D. — [Institution, Year]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B1D3A"/>
                </a:solidFill>
              </a:rPr>
              <a:t>Where I’m From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5A7184"/>
                </a:solidFill>
              </a:rPr>
              <a:t>[City / Region] — shaped my curiosity about systems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B1D3A"/>
                </a:solidFill>
              </a:rPr>
              <a:t>Before This Role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5A7184"/>
                </a:solidFill>
              </a:rPr>
              <a:t>Industry: [Company / project]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5A7184"/>
                </a:solidFill>
              </a:rPr>
              <a:t>Research: [Lab name / topic]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0" y="1005840"/>
            <a:ext cx="3108960" cy="3566160"/>
          </a:xfrm>
          <a:prstGeom prst="rect">
            <a:avLst/>
          </a:prstGeom>
          <a:solidFill>
            <a:srgbClr val="EAF4F8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0" y="1005840"/>
            <a:ext cx="310896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0" y="1005840"/>
            <a:ext cx="310896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A7184"/>
                </a:solidFill>
              </a:rPr>
              <a:t>[ Photo 1 ]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5A7184"/>
                </a:solidFill>
              </a:rPr>
              <a:t>Personal / Lab Photo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Teaching Experience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</a:rPr>
              <a:t>3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7184"/>
                </a:solidFill>
              </a:rPr>
              <a:t>Faculty Introduction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23444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2344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91640" y="1143000"/>
            <a:ext cx="6675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D3A"/>
                </a:solidFill>
              </a:rPr>
              <a:t>Courses Taught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5A7184"/>
                </a:solidFill>
              </a:rPr>
              <a:t>Data Structures &amp; Algorithms · Intro to CS · Computer Networks / OS  —  [Institution, Year]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246888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46888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91640" y="2377440"/>
            <a:ext cx="6675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D3A"/>
                </a:solidFill>
              </a:rPr>
              <a:t>Teaching Philosophy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5A7184"/>
                </a:solidFill>
              </a:rPr>
              <a:t>Active learning: think-pair-share, live coding. Bridge theory ↔ real-world practice. Inclusive classroom — meet students where they are.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52044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703320"/>
            <a:ext cx="685800" cy="6858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7033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91640" y="3611880"/>
            <a:ext cx="6675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D3A"/>
                </a:solidFill>
              </a:rPr>
              <a:t>Recognition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5A7184"/>
                </a:solidFill>
              </a:rPr>
              <a:t>[Teaching award / positive course-evaluation highlights / notable student feedback]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Interests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</a:rPr>
              <a:t>4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7184"/>
                </a:solidFill>
              </a:rPr>
              <a:t>Faculty Introduction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4572000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143000"/>
            <a:ext cx="41605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D3A"/>
                </a:solidFill>
              </a:rPr>
              <a:t>Primary Area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5A7184"/>
                </a:solidFill>
              </a:rPr>
              <a:t>[e.g., Distributed Systems / Security / Edge Computing]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B1D3A"/>
                </a:solidFill>
              </a:rPr>
              <a:t>Selected Projects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5A7184"/>
                </a:solidFill>
              </a:rPr>
              <a:t>Project A — [one-line description, outcome]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5A7184"/>
                </a:solidFill>
              </a:rPr>
              <a:t>Project B — [one-line description, outcome]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B1D3A"/>
                </a:solidFill>
              </a:rPr>
              <a:t>Publications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5A7184"/>
                </a:solidFill>
              </a:rPr>
              <a:t>[Venue, Year] — paper title (brief)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5A7184"/>
                </a:solidFill>
              </a:rPr>
              <a:t>[Venue, Year] — paper title (brief)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0" y="1005840"/>
            <a:ext cx="3108960" cy="3566160"/>
          </a:xfrm>
          <a:prstGeom prst="rect">
            <a:avLst/>
          </a:prstGeom>
          <a:solidFill>
            <a:srgbClr val="EAF4F8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0" y="1005840"/>
            <a:ext cx="310896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0" y="1005840"/>
            <a:ext cx="310896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A7184"/>
                </a:solidFill>
              </a:rPr>
              <a:t>[ Photo 2 ]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5A7184"/>
                </a:solidFill>
              </a:rPr>
              <a:t>Research / Demo Photo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065A82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914400"/>
            <a:ext cx="2743200" cy="2743200"/>
          </a:xfrm>
          <a:prstGeom prst="ellipse">
            <a:avLst/>
          </a:prstGeom>
          <a:solidFill>
            <a:srgbClr val="1C7293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1D1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 Development,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Plans &amp; Work Framework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5 /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 for Student Development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</a:rPr>
              <a:t>6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7184"/>
                </a:solidFill>
              </a:rPr>
              <a:t>Faculty Introduction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80467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170432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170432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91640" y="1106424"/>
            <a:ext cx="6675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3A"/>
                </a:solidFill>
              </a:rPr>
              <a:t>Foundations First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A7184"/>
                </a:solidFill>
              </a:rPr>
              <a:t>Algorithms, math, and systems thinking. Students who understand WHY adapt to any language or framework.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80467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2267712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267712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91640" y="2203704"/>
            <a:ext cx="6675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3A"/>
                </a:solidFill>
              </a:rPr>
              <a:t>Practical Craft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A7184"/>
                </a:solidFill>
              </a:rPr>
              <a:t>Clean code, debugging discipline, tooling fluency. Real skills built through project-based learning.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80467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364992"/>
            <a:ext cx="685800" cy="6858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364992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91640" y="3300984"/>
            <a:ext cx="6675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3A"/>
                </a:solidFill>
              </a:rPr>
              <a:t>Professional Growth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A7184"/>
                </a:solidFill>
              </a:rPr>
              <a:t>Communication, teamwork, and ethics. Graduates who can collaborate and lead, not just code.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45720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251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D19F"/>
                </a:solidFill>
              </a:rPr>
              <a:t>My measure of success: students tackle problems they’ve never seen — and enjoy it.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for This Course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</a:rPr>
              <a:t>7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7184"/>
                </a:solidFill>
              </a:rPr>
              <a:t>Faculty Introduction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2606040" cy="3520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51560"/>
            <a:ext cx="2606040" cy="4572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5156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Weeks 1–4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• Foundations &amp; tooling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42316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• Algorithm analysis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15468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• First mini-project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429000" y="1051560"/>
            <a:ext cx="2606040" cy="3520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29000" y="1051560"/>
            <a:ext cx="2606040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3429000" y="105156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Weeks 5–9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11880" y="169164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• Core data structures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11880" y="242316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• Algorithm design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11880" y="315468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• Team project kick-off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09360" y="1051560"/>
            <a:ext cx="2606040" cy="3520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1051560"/>
            <a:ext cx="2606040" cy="4572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9" name="Text 17"/>
          <p:cNvSpPr/>
          <p:nvPr/>
        </p:nvSpPr>
        <p:spPr>
          <a:xfrm>
            <a:off x="6309360" y="105156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Weeks 10–15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92240" y="169164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• Advanced topics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2240" y="242316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• Real-world case studies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92240" y="315468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• Final project &amp; demo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Understanding Where Students Are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</a:rPr>
              <a:t>8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7184"/>
                </a:solidFill>
              </a:rPr>
              <a:t>Faculty Introduction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7184"/>
                </a:solidFill>
              </a:rPr>
              <a:t>My approach to learning who is in the room…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79476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508760"/>
            <a:ext cx="3794760" cy="4572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50876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DAY ONE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103120"/>
            <a:ext cx="33375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</a:rPr>
              <a:t>Short diagnostic quiz + survey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</a:rPr>
              <a:t>“What brought you to CS?”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A7184"/>
                </a:solidFill>
              </a:rPr>
              <a:t>Learn motivations, gaps, and goals before teaching begins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800600" y="1508760"/>
            <a:ext cx="379476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0600" y="1508760"/>
            <a:ext cx="3794760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50876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ONGOING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2103120"/>
            <a:ext cx="33375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</a:rPr>
              <a:t>Weekly exit tickets (2 Qs, anonymous)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</a:rPr>
              <a:t>Mid-semester small-group lunches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</a:rPr>
              <a:t>Open office hours — no agenda required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200" i="1" dirty="0">
                <a:solidFill>
                  <a:srgbClr val="FF6B35"/>
                </a:solidFill>
              </a:rPr>
              <a:t>Adjust pacing if &gt; 30% struggle on a concept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297680"/>
            <a:ext cx="8046720" cy="36576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D19F"/>
                </a:solidFill>
              </a:rPr>
              <a:t>Students notice when teachers actually adapt.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 Work — My Framework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</a:rPr>
              <a:t>9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7184"/>
                </a:solidFill>
              </a:rPr>
              <a:t>Faculty Introduction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051560"/>
            <a:ext cx="658368" cy="65836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05156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1042416"/>
            <a:ext cx="676656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3A"/>
                </a:solidFill>
              </a:rPr>
              <a:t>Preparation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A7184"/>
                </a:solidFill>
              </a:rPr>
              <a:t>Lecture notes, code demos, and problem sets ready two weeks in advance. No improvising core material.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1892808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1938528"/>
            <a:ext cx="658368" cy="6583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193852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45920" y="1929384"/>
            <a:ext cx="676656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3A"/>
                </a:solidFill>
              </a:rPr>
              <a:t>Engagement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A7184"/>
                </a:solidFill>
              </a:rPr>
              <a:t>Active recall and pair programming in class. No passive slides-only lectures.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2779776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2825496"/>
            <a:ext cx="658368" cy="65836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282549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645920" y="2816352"/>
            <a:ext cx="676656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3A"/>
                </a:solidFill>
              </a:rPr>
              <a:t>Mentorship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A7184"/>
                </a:solidFill>
              </a:rPr>
              <a:t>1-on-1 check-ins and clear research pathways for students who want to go deeper.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48640" y="3666744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3712464"/>
            <a:ext cx="658368" cy="658368"/>
          </a:xfrm>
          <a:prstGeom prst="ellipse">
            <a:avLst/>
          </a:prstGeom>
          <a:solidFill>
            <a:srgbClr val="0B1D3A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712464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645920" y="3703320"/>
            <a:ext cx="676656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3A"/>
                </a:solidFill>
              </a:rPr>
              <a:t>Collaboration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A7184"/>
                </a:solidFill>
              </a:rPr>
              <a:t>Cross-disciplinary projects and industry partner connections — students graduate with a network.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065A82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914400"/>
            <a:ext cx="2743200" cy="2743200"/>
          </a:xfrm>
          <a:prstGeom prst="ellipse">
            <a:avLst/>
          </a:prstGeom>
          <a:solidFill>
            <a:srgbClr val="FF6B35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5603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6B35"/>
                </a:solidFill>
              </a:rPr>
              <a:t>Highlight 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21792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ICPC Competition Plan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8046720" cy="502920"/>
          </a:xfrm>
          <a:prstGeom prst="rect">
            <a:avLst/>
          </a:prstGeom>
          <a:solidFill>
            <a:srgbClr val="065A82">
              <a:alpha val="8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508760"/>
            <a:ext cx="54864" cy="502920"/>
          </a:xfrm>
          <a:prstGeom prst="rect">
            <a:avLst/>
          </a:prstGeom>
          <a:solidFill>
            <a:srgbClr val="21D19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508760"/>
            <a:ext cx="7589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Semester 1 — Weekly training sessions; identify and recruit top students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103120"/>
            <a:ext cx="8046720" cy="502920"/>
          </a:xfrm>
          <a:prstGeom prst="rect">
            <a:avLst/>
          </a:prstGeom>
          <a:solidFill>
            <a:srgbClr val="065A82">
              <a:alpha val="8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103120"/>
            <a:ext cx="54864" cy="502920"/>
          </a:xfrm>
          <a:prstGeom prst="rect">
            <a:avLst/>
          </a:prstGeom>
          <a:solidFill>
            <a:srgbClr val="21D19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103120"/>
            <a:ext cx="7589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Semester 2 — Internal mock contest; select a team of 3 for regional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2697480"/>
            <a:ext cx="8046720" cy="502920"/>
          </a:xfrm>
          <a:prstGeom prst="rect">
            <a:avLst/>
          </a:prstGeom>
          <a:solidFill>
            <a:srgbClr val="065A82">
              <a:alpha val="8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697480"/>
            <a:ext cx="54864" cy="502920"/>
          </a:xfrm>
          <a:prstGeom prst="rect">
            <a:avLst/>
          </a:prstGeom>
          <a:solidFill>
            <a:srgbClr val="21D19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697480"/>
            <a:ext cx="7589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Year 2     — Regional competition + structured post-analysis workshop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383280"/>
            <a:ext cx="8046720" cy="1234440"/>
          </a:xfrm>
          <a:prstGeom prst="rect">
            <a:avLst/>
          </a:prstGeom>
          <a:solidFill>
            <a:srgbClr val="065A82">
              <a:alpha val="85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447288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D19F"/>
                </a:solidFill>
              </a:rPr>
              <a:t>What students gain: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7240" y="3776472"/>
            <a:ext cx="7589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4F8"/>
                </a:solidFill>
              </a:rPr>
              <a:t>Deep algorithmic problem-solving under time pressure  •  Team communication skills  •  A standout credential recognized by top tech employers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914400"/>
            <a:ext cx="3657600" cy="365760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2743200"/>
            <a:ext cx="3657600" cy="3657600"/>
          </a:xfrm>
          <a:prstGeom prst="ellipse">
            <a:avLst/>
          </a:prstGeom>
          <a:solidFill>
            <a:srgbClr val="065A82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5603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1D19F"/>
                </a:solidFill>
              </a:rPr>
              <a:t>Highlight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21792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Competitions Still Matter in the AI Era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794760" cy="3063240"/>
          </a:xfrm>
          <a:prstGeom prst="rect">
            <a:avLst/>
          </a:prstGeom>
          <a:solidFill>
            <a:srgbClr val="065A82">
              <a:alpha val="8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417320"/>
            <a:ext cx="3794760" cy="411480"/>
          </a:xfrm>
          <a:prstGeom prst="rect">
            <a:avLst/>
          </a:prstGeom>
          <a:solidFill>
            <a:srgbClr val="FF6B35">
              <a:alpha val="8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417320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LLMs can already…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1920240"/>
            <a:ext cx="347472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AF4F8"/>
                </a:solidFill>
              </a:rPr>
              <a:t>Generate working code quickly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AF4F8"/>
                </a:solidFill>
              </a:rPr>
              <a:t>Handle routine algorithm patterns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AF4F8"/>
                </a:solidFill>
              </a:rPr>
              <a:t>Pass many OJ problems with prompting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FF6B35"/>
                </a:solidFill>
              </a:rPr>
              <a:t>So why train humans to compete?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00600" y="1417320"/>
            <a:ext cx="3794760" cy="3063240"/>
          </a:xfrm>
          <a:prstGeom prst="rect">
            <a:avLst/>
          </a:prstGeom>
          <a:solidFill>
            <a:srgbClr val="1C7293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800600" y="1417320"/>
            <a:ext cx="3794760" cy="411480"/>
          </a:xfrm>
          <a:prstGeom prst="rect">
            <a:avLst/>
          </a:prstGeom>
          <a:solidFill>
            <a:srgbClr val="21D19F">
              <a:alpha val="8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1417320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</a:rPr>
              <a:t>Humans still need to…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1920240"/>
            <a:ext cx="347472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Verify, judge, and debug AI output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Frame novel problems AI hasn’t seen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Apply combinatorial intuition under real constraints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Build resilience and perseverance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D19F"/>
                </a:solidFill>
              </a:rPr>
              <a:t>The best engineers direct AI — not follow it.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11 / 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065A82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914400"/>
            <a:ext cx="2743200" cy="2743200"/>
          </a:xfrm>
          <a:prstGeom prst="ellipse">
            <a:avLst/>
          </a:prstGeom>
          <a:solidFill>
            <a:srgbClr val="1C7293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 Hope You’ll Remember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8046720" cy="548640"/>
          </a:xfrm>
          <a:prstGeom prst="rect">
            <a:avLst/>
          </a:prstGeom>
          <a:solidFill>
            <a:srgbClr val="065A82">
              <a:alpha val="8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188720"/>
            <a:ext cx="54864" cy="548640"/>
          </a:xfrm>
          <a:prstGeom prst="rect">
            <a:avLst/>
          </a:prstGeom>
          <a:solidFill>
            <a:srgbClr val="21D19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188720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Teaching is about building thinkers, not just coders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8046720" cy="548640"/>
          </a:xfrm>
          <a:prstGeom prst="rect">
            <a:avLst/>
          </a:prstGeom>
          <a:solidFill>
            <a:srgbClr val="065A82">
              <a:alpha val="8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1874520"/>
            <a:ext cx="54864" cy="548640"/>
          </a:xfrm>
          <a:prstGeom prst="rect">
            <a:avLst/>
          </a:prstGeom>
          <a:solidFill>
            <a:srgbClr val="21D19F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874520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ICPC training builds skills that AI cannot replace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560320"/>
            <a:ext cx="8046720" cy="548640"/>
          </a:xfrm>
          <a:prstGeom prst="rect">
            <a:avLst/>
          </a:prstGeom>
          <a:solidFill>
            <a:srgbClr val="065A82">
              <a:alpha val="8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560320"/>
            <a:ext cx="54864" cy="548640"/>
          </a:xfrm>
          <a:prstGeom prst="rect">
            <a:avLst/>
          </a:prstGeom>
          <a:solidFill>
            <a:srgbClr val="21D19F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560320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 adapt to my students — my door is always open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3246120"/>
            <a:ext cx="8046720" cy="548640"/>
          </a:xfrm>
          <a:prstGeom prst="rect">
            <a:avLst/>
          </a:prstGeom>
          <a:solidFill>
            <a:srgbClr val="065A82">
              <a:alpha val="8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3246120"/>
            <a:ext cx="54864" cy="548640"/>
          </a:xfrm>
          <a:prstGeom prst="rect">
            <a:avLst/>
          </a:prstGeom>
          <a:solidFill>
            <a:srgbClr val="21D19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246120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I’m excited to build something great with all of you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4023360"/>
            <a:ext cx="8046720" cy="640080"/>
          </a:xfrm>
          <a:prstGeom prst="rect">
            <a:avLst/>
          </a:prstGeom>
          <a:solidFill>
            <a:srgbClr val="1C7293">
              <a:alpha val="3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023360"/>
            <a:ext cx="7589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D19F"/>
                </a:solidFill>
              </a:rPr>
              <a:t>[your.email@university.edu]  •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Office [Room]  •  Office Hours: [Days / Times]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12 /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Faculty Introduction — Jiarui Zhang</dc:title>
  <dc:subject>PptxGenJS Presentation</dc:subject>
  <dc:creator>Jiarui Zhang</dc:creator>
  <cp:lastModifiedBy>Jiarui Zhang</cp:lastModifiedBy>
  <cp:revision>1</cp:revision>
  <dcterms:created xsi:type="dcterms:W3CDTF">2026-04-17T22:29:14Z</dcterms:created>
  <dcterms:modified xsi:type="dcterms:W3CDTF">2026-04-17T22:29:14Z</dcterms:modified>
</cp:coreProperties>
</file>