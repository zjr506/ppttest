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ENGAGE: Ask students to raise hands for A or B. Most will guess A. Reveal: The answer is B! Websites store a fingerprint of your password, not the password itself. This fingerprint is called a HASH. Transition: Let us learn what that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any input goes in, a fixed-size digest comes out. Analogy: Think of it like a blender. You can put anything in, but you always get a smoothie. You cannot un-blend it back to the original fruit.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each property with a real-world analogy: (1) Deterministic = like a fingerprint, always the same for the same person. (2) One-way = like baking a cake, you cannot get eggs back from a cake. (3) Collision resistant = finding two people with the same fingerprint is nearly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OPPORTUNITY: If time allows, open a terminal or online SHA-256 tool and hash hello live. Then change one letter and show how completely different the output is. Students love seeing this live. Key point: This is NOT encryption, you cannot reverse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back to the opening question! This is why the answer was B. Walk through the 3 steps carefully. Mention that real systems also use salting, adding random data before hashing, but that is a topic for a security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Relatable example: Have you ever downloaded software and seen a SHA-256 checksum on the page? This bridges nicely into the blockchain slide. Emphasize: the avalanche effect means even one flipped bit changes the entire hash.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SLIDE: Connect everything together. Each block includes the hash of the previous block. If anyone changes data in Block 1, the hash changes, which breaks Block 2 reference, and so on. This is the core insight of blockchain security. NEW: Edge computing extension — explain that IoT sensors, autonomous vehicles, and smart devices at the network edge need to verify data without always reaching the cloud. Hashing provides lightweight integrity checks, and when combined with blockchain, creates a decentralized trust model. Edge nodes can hash sensor readings and chain them into a local ledger, making tampering detectable even without cloud connectivity. Mention: This connects to my own research on how blockchain architectures can secure edge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 minute to think individually, then 1 minute to discuss with a neighbor. Q1 Answer: YES, deterministic! Same input gives same hash. Q2 Answer: NO, hashing is one-way (lossy). You cannot get the original data back from the hash. Compression is reversible; hashing is not. If students are confused, use the blender analogy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journey: We started with a password question, learned what hash functions are, saw their properties, explored applications in passwords and data integrity, and connected it all to blockchain. Tease the next lecture. Thank the audience.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6217920" y="-1371600"/>
            <a:ext cx="4572000" cy="4572000"/>
          </a:xfrm>
          <a:prstGeom prst="ellipse">
            <a:avLst/>
          </a:prstGeom>
          <a:solidFill>
            <a:srgbClr val="065A82">
              <a:alpha val="60000"/>
            </a:srgbClr>
          </a:solidFill>
          <a:ln/>
        </p:spPr>
      </p:sp>
      <p:sp>
        <p:nvSpPr>
          <p:cNvPr id="3" name="Shape 1"/>
          <p:cNvSpPr/>
          <p:nvPr/>
        </p:nvSpPr>
        <p:spPr>
          <a:xfrm>
            <a:off x="7132320" y="2286000"/>
            <a:ext cx="3657600" cy="3657600"/>
          </a:xfrm>
          <a:prstGeom prst="ellipse">
            <a:avLst/>
          </a:prstGeom>
          <a:solidFill>
            <a:srgbClr val="1C7293">
              <a:alpha val="50000"/>
            </a:srgbClr>
          </a:solidFill>
          <a:ln/>
        </p:spPr>
      </p:sp>
      <p:sp>
        <p:nvSpPr>
          <p:cNvPr id="4" name="Text 2"/>
          <p:cNvSpPr/>
          <p:nvPr/>
        </p:nvSpPr>
        <p:spPr>
          <a:xfrm>
            <a:off x="731520" y="914400"/>
            <a:ext cx="6400800" cy="1097280"/>
          </a:xfrm>
          <a:prstGeom prst="rect">
            <a:avLst/>
          </a:prstGeom>
          <a:noFill/>
          <a:ln/>
        </p:spPr>
        <p:txBody>
          <a:bodyPr wrap="square" lIns="0" tIns="0" rIns="0" bIns="0" rtlCol="0" anchor="ctr"/>
          <a:lstStyle/>
          <a:p>
            <a:pPr indent="0" marL="0">
              <a:buNone/>
            </a:pPr>
            <a:r>
              <a:rPr lang="en-US" sz="5200" b="1" dirty="0">
                <a:solidFill>
                  <a:srgbClr val="FFFFFF"/>
                </a:solidFill>
                <a:latin typeface="Georgia" pitchFamily="34" charset="0"/>
                <a:ea typeface="Georgia" pitchFamily="34" charset="-122"/>
                <a:cs typeface="Georgia" pitchFamily="34" charset="-120"/>
              </a:rPr>
              <a:t>Hashing</a:t>
            </a:r>
            <a:endParaRPr lang="en-US" sz="5200" dirty="0"/>
          </a:p>
        </p:txBody>
      </p:sp>
      <p:sp>
        <p:nvSpPr>
          <p:cNvPr id="5" name="Text 3"/>
          <p:cNvSpPr/>
          <p:nvPr/>
        </p:nvSpPr>
        <p:spPr>
          <a:xfrm>
            <a:off x="731520" y="1920240"/>
            <a:ext cx="6400800" cy="640080"/>
          </a:xfrm>
          <a:prstGeom prst="rect">
            <a:avLst/>
          </a:prstGeom>
          <a:noFill/>
          <a:ln/>
        </p:spPr>
        <p:txBody>
          <a:bodyPr wrap="square" lIns="0" tIns="0" rIns="0" bIns="0" rtlCol="0" anchor="ctr"/>
          <a:lstStyle/>
          <a:p>
            <a:pPr indent="0" marL="0">
              <a:buNone/>
            </a:pPr>
            <a:r>
              <a:rPr lang="en-US" sz="2600" dirty="0">
                <a:solidFill>
                  <a:srgbClr val="21D19F"/>
                </a:solidFill>
                <a:latin typeface="Georgia" pitchFamily="34" charset="0"/>
                <a:ea typeface="Georgia" pitchFamily="34" charset="-122"/>
                <a:cs typeface="Georgia" pitchFamily="34" charset="-120"/>
              </a:rPr>
              <a:t>From Passwords to Blockchain</a:t>
            </a:r>
            <a:endParaRPr lang="en-US" sz="2600" dirty="0"/>
          </a:p>
        </p:txBody>
      </p:sp>
      <p:sp>
        <p:nvSpPr>
          <p:cNvPr id="6" name="Shape 4"/>
          <p:cNvSpPr/>
          <p:nvPr/>
        </p:nvSpPr>
        <p:spPr>
          <a:xfrm>
            <a:off x="731520" y="2743200"/>
            <a:ext cx="2286000" cy="36576"/>
          </a:xfrm>
          <a:prstGeom prst="rect">
            <a:avLst/>
          </a:prstGeom>
          <a:solidFill>
            <a:srgbClr val="21D19F"/>
          </a:solidFill>
          <a:ln/>
        </p:spPr>
      </p:sp>
      <p:sp>
        <p:nvSpPr>
          <p:cNvPr id="7" name="Text 5"/>
          <p:cNvSpPr/>
          <p:nvPr/>
        </p:nvSpPr>
        <p:spPr>
          <a:xfrm>
            <a:off x="731520" y="3017520"/>
            <a:ext cx="4572000" cy="822960"/>
          </a:xfrm>
          <a:prstGeom prst="rect">
            <a:avLst/>
          </a:prstGeom>
          <a:noFill/>
          <a:ln/>
        </p:spPr>
        <p:txBody>
          <a:bodyPr wrap="square" rtlCol="0" anchor="ctr"/>
          <a:lstStyle/>
          <a:p>
            <a:pPr indent="0" marL="0">
              <a:buNone/>
            </a:pPr>
            <a:r>
              <a:rPr lang="en-US" sz="1600" b="1" dirty="0">
                <a:solidFill>
                  <a:srgbClr val="FFFFFF"/>
                </a:solidFill>
              </a:rPr>
              <a:t>Jiarui Zhang</a:t>
            </a:r>
            <a:endParaRPr lang="en-US" sz="1600" dirty="0"/>
          </a:p>
          <a:p>
            <a:pPr indent="0" marL="0">
              <a:buNone/>
            </a:pPr>
            <a:r>
              <a:rPr lang="en-US" sz="1300" dirty="0">
                <a:solidFill>
                  <a:srgbClr val="5A7184"/>
                </a:solidFill>
              </a:rPr>
              <a:t>Department of Computer Engineering</a:t>
            </a:r>
            <a:endParaRPr lang="en-US" sz="1600" dirty="0"/>
          </a:p>
        </p:txBody>
      </p:sp>
      <p:sp>
        <p:nvSpPr>
          <p:cNvPr id="8" name="Shape 6"/>
          <p:cNvSpPr/>
          <p:nvPr/>
        </p:nvSpPr>
        <p:spPr>
          <a:xfrm>
            <a:off x="0" y="4754880"/>
            <a:ext cx="9144000" cy="388620"/>
          </a:xfrm>
          <a:prstGeom prst="rect">
            <a:avLst/>
          </a:prstGeom>
          <a:solidFill>
            <a:srgbClr val="065A82">
              <a:alpha val="70000"/>
            </a:srgbClr>
          </a:solidFill>
          <a:ln/>
        </p:spPr>
      </p:sp>
      <p:sp>
        <p:nvSpPr>
          <p:cNvPr id="9" name="Text 7"/>
          <p:cNvSpPr/>
          <p:nvPr/>
        </p:nvSpPr>
        <p:spPr>
          <a:xfrm>
            <a:off x="731520" y="4754880"/>
            <a:ext cx="3657600" cy="384048"/>
          </a:xfrm>
          <a:prstGeom prst="rect">
            <a:avLst/>
          </a:prstGeom>
          <a:noFill/>
          <a:ln/>
        </p:spPr>
        <p:txBody>
          <a:bodyPr wrap="square" rtlCol="0" anchor="ctr"/>
          <a:lstStyle/>
          <a:p>
            <a:pPr indent="0" marL="0">
              <a:buNone/>
            </a:pPr>
            <a:r>
              <a:rPr lang="en-US" sz="1100" dirty="0">
                <a:solidFill>
                  <a:srgbClr val="1C7293"/>
                </a:solidFill>
              </a:rPr>
              <a:t>15-Minute Teaching Demo</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A Question to Start</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2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Shape 3"/>
          <p:cNvSpPr/>
          <p:nvPr/>
        </p:nvSpPr>
        <p:spPr>
          <a:xfrm>
            <a:off x="548640" y="1097280"/>
            <a:ext cx="8046720" cy="20116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6" name="Shape 4"/>
          <p:cNvSpPr/>
          <p:nvPr/>
        </p:nvSpPr>
        <p:spPr>
          <a:xfrm>
            <a:off x="548640" y="1097280"/>
            <a:ext cx="73152" cy="2011680"/>
          </a:xfrm>
          <a:prstGeom prst="rect">
            <a:avLst/>
          </a:prstGeom>
          <a:solidFill>
            <a:srgbClr val="FF6B35"/>
          </a:solidFill>
          <a:ln/>
        </p:spPr>
      </p:sp>
      <p:sp>
        <p:nvSpPr>
          <p:cNvPr id="7" name="Text 5"/>
          <p:cNvSpPr/>
          <p:nvPr/>
        </p:nvSpPr>
        <p:spPr>
          <a:xfrm>
            <a:off x="914400" y="1234440"/>
            <a:ext cx="7406640" cy="914400"/>
          </a:xfrm>
          <a:prstGeom prst="rect">
            <a:avLst/>
          </a:prstGeom>
          <a:noFill/>
          <a:ln/>
        </p:spPr>
        <p:txBody>
          <a:bodyPr wrap="square" rtlCol="0" anchor="ctr"/>
          <a:lstStyle/>
          <a:p>
            <a:pPr indent="0" marL="0">
              <a:buNone/>
            </a:pPr>
            <a:r>
              <a:rPr lang="en-US" sz="2200" i="1" dirty="0">
                <a:solidFill>
                  <a:srgbClr val="0B1D3A"/>
                </a:solidFill>
                <a:latin typeface="Georgia" pitchFamily="34" charset="0"/>
                <a:ea typeface="Georgia" pitchFamily="34" charset="-122"/>
                <a:cs typeface="Georgia" pitchFamily="34" charset="-120"/>
              </a:rPr>
              <a:t>When you type your password to log in, does the website compare it to a stored copy of your password?</a:t>
            </a:r>
            <a:endParaRPr lang="en-US" sz="2200" dirty="0"/>
          </a:p>
        </p:txBody>
      </p:sp>
      <p:sp>
        <p:nvSpPr>
          <p:cNvPr id="8" name="Text 6"/>
          <p:cNvSpPr/>
          <p:nvPr/>
        </p:nvSpPr>
        <p:spPr>
          <a:xfrm>
            <a:off x="914400" y="2194560"/>
            <a:ext cx="7406640" cy="640080"/>
          </a:xfrm>
          <a:prstGeom prst="rect">
            <a:avLst/>
          </a:prstGeom>
          <a:noFill/>
          <a:ln/>
        </p:spPr>
        <p:txBody>
          <a:bodyPr wrap="square" rtlCol="0" anchor="ctr"/>
          <a:lstStyle/>
          <a:p>
            <a:pPr indent="0" marL="0">
              <a:buNone/>
            </a:pPr>
            <a:r>
              <a:rPr lang="en-US" sz="1600" b="1" dirty="0">
                <a:solidFill>
                  <a:srgbClr val="065A82"/>
                </a:solidFill>
              </a:rPr>
              <a:t>Think about it: </a:t>
            </a:r>
            <a:pPr indent="0" marL="0">
              <a:buNone/>
            </a:pPr>
            <a:r>
              <a:rPr lang="en-US" sz="1600" dirty="0">
                <a:solidFill>
                  <a:srgbClr val="1A1A2E"/>
                </a:solidFill>
              </a:rPr>
              <a:t>If a hacker breaks into the database, would they get everyone’s passwords?</a:t>
            </a:r>
            <a:endParaRPr lang="en-US" sz="1600" dirty="0"/>
          </a:p>
        </p:txBody>
      </p:sp>
      <p:sp>
        <p:nvSpPr>
          <p:cNvPr id="9" name="Shape 7"/>
          <p:cNvSpPr/>
          <p:nvPr/>
        </p:nvSpPr>
        <p:spPr>
          <a:xfrm>
            <a:off x="548640" y="3383280"/>
            <a:ext cx="3794760" cy="10972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0" name="Text 8"/>
          <p:cNvSpPr/>
          <p:nvPr/>
        </p:nvSpPr>
        <p:spPr>
          <a:xfrm>
            <a:off x="822960" y="3520440"/>
            <a:ext cx="3291840" cy="822960"/>
          </a:xfrm>
          <a:prstGeom prst="rect">
            <a:avLst/>
          </a:prstGeom>
          <a:noFill/>
          <a:ln/>
        </p:spPr>
        <p:txBody>
          <a:bodyPr wrap="square" rtlCol="0" anchor="ctr"/>
          <a:lstStyle/>
          <a:p>
            <a:pPr indent="0" marL="0">
              <a:buNone/>
            </a:pPr>
            <a:r>
              <a:rPr lang="en-US" sz="1600" b="1" dirty="0">
                <a:solidFill>
                  <a:srgbClr val="065A82"/>
                </a:solidFill>
              </a:rPr>
              <a:t>A)  Yes — direct comparison</a:t>
            </a:r>
            <a:endParaRPr lang="en-US" sz="1600" dirty="0"/>
          </a:p>
          <a:p>
            <a:pPr indent="0" marL="0">
              <a:buNone/>
            </a:pPr>
            <a:r>
              <a:rPr lang="en-US" sz="1300" dirty="0">
                <a:solidFill>
                  <a:srgbClr val="5A7184"/>
                </a:solidFill>
              </a:rPr>
              <a:t>The server stores your actual password</a:t>
            </a:r>
            <a:endParaRPr lang="en-US" sz="1600" dirty="0"/>
          </a:p>
        </p:txBody>
      </p:sp>
      <p:sp>
        <p:nvSpPr>
          <p:cNvPr id="11" name="Shape 9"/>
          <p:cNvSpPr/>
          <p:nvPr/>
        </p:nvSpPr>
        <p:spPr>
          <a:xfrm>
            <a:off x="4800600" y="3383280"/>
            <a:ext cx="3794760" cy="10972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Text 10"/>
          <p:cNvSpPr/>
          <p:nvPr/>
        </p:nvSpPr>
        <p:spPr>
          <a:xfrm>
            <a:off x="5074920" y="3520440"/>
            <a:ext cx="3291840" cy="822960"/>
          </a:xfrm>
          <a:prstGeom prst="rect">
            <a:avLst/>
          </a:prstGeom>
          <a:noFill/>
          <a:ln/>
        </p:spPr>
        <p:txBody>
          <a:bodyPr wrap="square" rtlCol="0" anchor="ctr"/>
          <a:lstStyle/>
          <a:p>
            <a:pPr indent="0" marL="0">
              <a:buNone/>
            </a:pPr>
            <a:r>
              <a:rPr lang="en-US" sz="1600" b="1" dirty="0">
                <a:solidFill>
                  <a:srgbClr val="21D19F"/>
                </a:solidFill>
              </a:rPr>
              <a:t>B)  No — something cleverer</a:t>
            </a:r>
            <a:endParaRPr lang="en-US" sz="1600" dirty="0"/>
          </a:p>
          <a:p>
            <a:pPr indent="0" marL="0">
              <a:buNone/>
            </a:pPr>
            <a:r>
              <a:rPr lang="en-US" sz="1300" dirty="0">
                <a:solidFill>
                  <a:srgbClr val="5A7184"/>
                </a:solidFill>
              </a:rPr>
              <a:t>The server never sees your password</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What Is a Hash Function?</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3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Shape 3"/>
          <p:cNvSpPr/>
          <p:nvPr/>
        </p:nvSpPr>
        <p:spPr>
          <a:xfrm>
            <a:off x="548640" y="1051560"/>
            <a:ext cx="8046720" cy="1188720"/>
          </a:xfrm>
          <a:prstGeom prst="rect">
            <a:avLst/>
          </a:prstGeom>
          <a:solidFill>
            <a:srgbClr val="0B1D3A"/>
          </a:solidFill>
          <a:ln/>
          <a:effectLst>
            <a:outerShdw sx="100000" sy="100000" kx="0" ky="0" algn="bl" rotWithShape="0" blurRad="101600" dist="38100" dir="8100000">
              <a:srgbClr val="000000">
                <a:alpha val="12000"/>
              </a:srgbClr>
            </a:outerShdw>
          </a:effectLst>
        </p:spPr>
      </p:sp>
      <p:sp>
        <p:nvSpPr>
          <p:cNvPr id="6" name="Text 4"/>
          <p:cNvSpPr/>
          <p:nvPr/>
        </p:nvSpPr>
        <p:spPr>
          <a:xfrm>
            <a:off x="822960" y="1143000"/>
            <a:ext cx="7498080" cy="1005840"/>
          </a:xfrm>
          <a:prstGeom prst="rect">
            <a:avLst/>
          </a:prstGeom>
          <a:noFill/>
          <a:ln/>
        </p:spPr>
        <p:txBody>
          <a:bodyPr wrap="square" rtlCol="0" anchor="ctr"/>
          <a:lstStyle/>
          <a:p>
            <a:pPr indent="0" marL="0">
              <a:buNone/>
            </a:pPr>
            <a:r>
              <a:rPr lang="en-US" sz="1700" dirty="0">
                <a:solidFill>
                  <a:srgbClr val="FFFFFF"/>
                </a:solidFill>
                <a:latin typeface="Georgia" pitchFamily="34" charset="0"/>
                <a:ea typeface="Georgia" pitchFamily="34" charset="-122"/>
                <a:cs typeface="Georgia" pitchFamily="34" charset="-120"/>
              </a:rPr>
              <a:t>A hash function takes any input and produces a fixed-size output (the “hash” or “digest”) that looks random.</a:t>
            </a:r>
            <a:endParaRPr lang="en-US" sz="1700" dirty="0"/>
          </a:p>
        </p:txBody>
      </p:sp>
      <p:sp>
        <p:nvSpPr>
          <p:cNvPr id="7" name="Shape 5"/>
          <p:cNvSpPr/>
          <p:nvPr/>
        </p:nvSpPr>
        <p:spPr>
          <a:xfrm>
            <a:off x="548640" y="2606040"/>
            <a:ext cx="2286000" cy="14630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8" name="Text 6"/>
          <p:cNvSpPr/>
          <p:nvPr/>
        </p:nvSpPr>
        <p:spPr>
          <a:xfrm>
            <a:off x="640080" y="2697480"/>
            <a:ext cx="2103120" cy="1280160"/>
          </a:xfrm>
          <a:prstGeom prst="rect">
            <a:avLst/>
          </a:prstGeom>
          <a:noFill/>
          <a:ln/>
        </p:spPr>
        <p:txBody>
          <a:bodyPr wrap="square" rtlCol="0" anchor="ctr"/>
          <a:lstStyle/>
          <a:p>
            <a:pPr algn="ctr" indent="0" marL="0">
              <a:buNone/>
            </a:pPr>
            <a:r>
              <a:rPr lang="en-US" sz="1100" b="1" dirty="0">
                <a:solidFill>
                  <a:srgbClr val="1C7293"/>
                </a:solidFill>
              </a:rPr>
              <a:t>INPUT</a:t>
            </a:r>
            <a:endParaRPr lang="en-US" sz="1100" dirty="0"/>
          </a:p>
          <a:p>
            <a:pPr algn="ctr" indent="0" marL="0">
              <a:buNone/>
            </a:pPr>
            <a:r>
              <a:rPr lang="en-US" sz="1500" dirty="0">
                <a:solidFill>
                  <a:srgbClr val="1A1A2E"/>
                </a:solidFill>
                <a:latin typeface="Consolas" pitchFamily="34" charset="0"/>
                <a:ea typeface="Consolas" pitchFamily="34" charset="-122"/>
                <a:cs typeface="Consolas" pitchFamily="34" charset="-120"/>
              </a:rPr>
              <a:t>"hello"</a:t>
            </a:r>
            <a:endParaRPr lang="en-US" sz="1100" dirty="0"/>
          </a:p>
          <a:p>
            <a:pPr algn="ctr" indent="0" marL="0">
              <a:buNone/>
            </a:pPr>
            <a:r>
              <a:rPr lang="en-US" sz="1100" dirty="0">
                <a:solidFill>
                  <a:srgbClr val="5A7184"/>
                </a:solidFill>
              </a:rPr>
              <a:t>Any size: text, file,</a:t>
            </a:r>
            <a:endParaRPr lang="en-US" sz="1100" dirty="0"/>
          </a:p>
          <a:p>
            <a:pPr algn="ctr" indent="0" marL="0">
              <a:buNone/>
            </a:pPr>
            <a:r>
              <a:rPr lang="en-US" sz="1100" dirty="0">
                <a:solidFill>
                  <a:srgbClr val="5A7184"/>
                </a:solidFill>
              </a:rPr>
              <a:t>image, number…</a:t>
            </a:r>
            <a:endParaRPr lang="en-US" sz="1100" dirty="0"/>
          </a:p>
        </p:txBody>
      </p:sp>
      <p:sp>
        <p:nvSpPr>
          <p:cNvPr id="9" name="Text 7"/>
          <p:cNvSpPr/>
          <p:nvPr/>
        </p:nvSpPr>
        <p:spPr>
          <a:xfrm>
            <a:off x="2880360" y="2926080"/>
            <a:ext cx="548640" cy="731520"/>
          </a:xfrm>
          <a:prstGeom prst="rect">
            <a:avLst/>
          </a:prstGeom>
          <a:noFill/>
          <a:ln/>
        </p:spPr>
        <p:txBody>
          <a:bodyPr wrap="square" rtlCol="0" anchor="ctr"/>
          <a:lstStyle/>
          <a:p>
            <a:pPr algn="ctr" indent="0" marL="0">
              <a:buNone/>
            </a:pPr>
            <a:r>
              <a:rPr lang="en-US" sz="3600" dirty="0">
                <a:solidFill>
                  <a:srgbClr val="1C7293"/>
                </a:solidFill>
              </a:rPr>
              <a:t>→</a:t>
            </a:r>
            <a:endParaRPr lang="en-US" sz="3600" dirty="0"/>
          </a:p>
        </p:txBody>
      </p:sp>
      <p:sp>
        <p:nvSpPr>
          <p:cNvPr id="10" name="Shape 8"/>
          <p:cNvSpPr/>
          <p:nvPr/>
        </p:nvSpPr>
        <p:spPr>
          <a:xfrm>
            <a:off x="3429000" y="2606040"/>
            <a:ext cx="2286000" cy="1463040"/>
          </a:xfrm>
          <a:prstGeom prst="rect">
            <a:avLst/>
          </a:prstGeom>
          <a:solidFill>
            <a:srgbClr val="065A82"/>
          </a:solidFill>
          <a:ln/>
          <a:effectLst>
            <a:outerShdw sx="100000" sy="100000" kx="0" ky="0" algn="bl" rotWithShape="0" blurRad="101600" dist="38100" dir="8100000">
              <a:srgbClr val="000000">
                <a:alpha val="12000"/>
              </a:srgbClr>
            </a:outerShdw>
          </a:effectLst>
        </p:spPr>
      </p:sp>
      <p:sp>
        <p:nvSpPr>
          <p:cNvPr id="11" name="Text 9"/>
          <p:cNvSpPr/>
          <p:nvPr/>
        </p:nvSpPr>
        <p:spPr>
          <a:xfrm>
            <a:off x="3520440" y="2697480"/>
            <a:ext cx="2103120" cy="1280160"/>
          </a:xfrm>
          <a:prstGeom prst="rect">
            <a:avLst/>
          </a:prstGeom>
          <a:noFill/>
          <a:ln/>
        </p:spPr>
        <p:txBody>
          <a:bodyPr wrap="square" rtlCol="0" anchor="ctr"/>
          <a:lstStyle/>
          <a:p>
            <a:pPr algn="ctr" indent="0" marL="0">
              <a:buNone/>
            </a:pPr>
            <a:r>
              <a:rPr lang="en-US" sz="1200" b="1" dirty="0">
                <a:solidFill>
                  <a:srgbClr val="21D19F"/>
                </a:solidFill>
              </a:rPr>
              <a:t>HASH FUNCTION</a:t>
            </a:r>
            <a:endParaRPr lang="en-US" sz="1200" dirty="0"/>
          </a:p>
          <a:p>
            <a:pPr algn="ctr" indent="0" marL="0">
              <a:buNone/>
            </a:pPr>
            <a:r>
              <a:rPr lang="en-US" sz="2400" b="1" dirty="0">
                <a:solidFill>
                  <a:srgbClr val="FFFFFF"/>
                </a:solidFill>
                <a:latin typeface="Georgia" pitchFamily="34" charset="0"/>
                <a:ea typeface="Georgia" pitchFamily="34" charset="-122"/>
                <a:cs typeface="Georgia" pitchFamily="34" charset="-120"/>
              </a:rPr>
              <a:t>h(x)</a:t>
            </a:r>
            <a:endParaRPr lang="en-US" sz="1200" dirty="0"/>
          </a:p>
          <a:p>
            <a:pPr algn="ctr" indent="0" marL="0">
              <a:buNone/>
            </a:pPr>
            <a:r>
              <a:rPr lang="en-US" sz="1100" dirty="0">
                <a:solidFill>
                  <a:srgbClr val="1C7293"/>
                </a:solidFill>
              </a:rPr>
              <a:t>e.g., SHA-256</a:t>
            </a:r>
            <a:endParaRPr lang="en-US" sz="1200" dirty="0"/>
          </a:p>
        </p:txBody>
      </p:sp>
      <p:sp>
        <p:nvSpPr>
          <p:cNvPr id="12" name="Text 10"/>
          <p:cNvSpPr/>
          <p:nvPr/>
        </p:nvSpPr>
        <p:spPr>
          <a:xfrm>
            <a:off x="5760720" y="2926080"/>
            <a:ext cx="548640" cy="731520"/>
          </a:xfrm>
          <a:prstGeom prst="rect">
            <a:avLst/>
          </a:prstGeom>
          <a:noFill/>
          <a:ln/>
        </p:spPr>
        <p:txBody>
          <a:bodyPr wrap="square" rtlCol="0" anchor="ctr"/>
          <a:lstStyle/>
          <a:p>
            <a:pPr algn="ctr" indent="0" marL="0">
              <a:buNone/>
            </a:pPr>
            <a:r>
              <a:rPr lang="en-US" sz="3600" dirty="0">
                <a:solidFill>
                  <a:srgbClr val="1C7293"/>
                </a:solidFill>
              </a:rPr>
              <a:t>→</a:t>
            </a:r>
            <a:endParaRPr lang="en-US" sz="3600" dirty="0"/>
          </a:p>
        </p:txBody>
      </p:sp>
      <p:sp>
        <p:nvSpPr>
          <p:cNvPr id="13" name="Shape 11"/>
          <p:cNvSpPr/>
          <p:nvPr/>
        </p:nvSpPr>
        <p:spPr>
          <a:xfrm>
            <a:off x="6309360" y="2606040"/>
            <a:ext cx="2286000" cy="14630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4" name="Text 12"/>
          <p:cNvSpPr/>
          <p:nvPr/>
        </p:nvSpPr>
        <p:spPr>
          <a:xfrm>
            <a:off x="6400800" y="2697480"/>
            <a:ext cx="2103120" cy="1280160"/>
          </a:xfrm>
          <a:prstGeom prst="rect">
            <a:avLst/>
          </a:prstGeom>
          <a:noFill/>
          <a:ln/>
        </p:spPr>
        <p:txBody>
          <a:bodyPr wrap="square" rtlCol="0" anchor="ctr"/>
          <a:lstStyle/>
          <a:p>
            <a:pPr algn="ctr" indent="0" marL="0">
              <a:buNone/>
            </a:pPr>
            <a:r>
              <a:rPr lang="en-US" sz="1100" b="1" dirty="0">
                <a:solidFill>
                  <a:srgbClr val="FF6B35"/>
                </a:solidFill>
              </a:rPr>
              <a:t>OUTPUT</a:t>
            </a:r>
            <a:endParaRPr lang="en-US" sz="1100" dirty="0"/>
          </a:p>
          <a:p>
            <a:pPr algn="ctr" indent="0" marL="0">
              <a:buNone/>
            </a:pPr>
            <a:r>
              <a:rPr lang="en-US" sz="1400" dirty="0">
                <a:solidFill>
                  <a:srgbClr val="1A1A2E"/>
                </a:solidFill>
                <a:latin typeface="Consolas" pitchFamily="34" charset="0"/>
                <a:ea typeface="Consolas" pitchFamily="34" charset="-122"/>
                <a:cs typeface="Consolas" pitchFamily="34" charset="-120"/>
              </a:rPr>
              <a:t>2cf24d...71e2</a:t>
            </a:r>
            <a:endParaRPr lang="en-US" sz="1100" dirty="0"/>
          </a:p>
          <a:p>
            <a:pPr algn="ctr" indent="0" marL="0">
              <a:buNone/>
            </a:pPr>
            <a:r>
              <a:rPr lang="en-US" sz="1100" dirty="0">
                <a:solidFill>
                  <a:srgbClr val="5A7184"/>
                </a:solidFill>
              </a:rPr>
              <a:t>Always fixed size</a:t>
            </a:r>
            <a:endParaRPr lang="en-US" sz="1100" dirty="0"/>
          </a:p>
          <a:p>
            <a:pPr algn="ctr" indent="0" marL="0">
              <a:buNone/>
            </a:pPr>
            <a:r>
              <a:rPr lang="en-US" sz="1100" dirty="0">
                <a:solidFill>
                  <a:srgbClr val="5A7184"/>
                </a:solidFill>
              </a:rPr>
              <a:t>(e.g., 256 bits)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Three Key Properties</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4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Shape 3"/>
          <p:cNvSpPr/>
          <p:nvPr/>
        </p:nvSpPr>
        <p:spPr>
          <a:xfrm>
            <a:off x="548640" y="1051560"/>
            <a:ext cx="8046720" cy="10972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6" name="Shape 4"/>
          <p:cNvSpPr/>
          <p:nvPr/>
        </p:nvSpPr>
        <p:spPr>
          <a:xfrm>
            <a:off x="777240" y="1252728"/>
            <a:ext cx="685800" cy="685800"/>
          </a:xfrm>
          <a:prstGeom prst="ellipse">
            <a:avLst/>
          </a:prstGeom>
          <a:solidFill>
            <a:srgbClr val="065A82"/>
          </a:solidFill>
          <a:ln/>
        </p:spPr>
      </p:sp>
      <p:sp>
        <p:nvSpPr>
          <p:cNvPr id="7" name="Text 5"/>
          <p:cNvSpPr/>
          <p:nvPr/>
        </p:nvSpPr>
        <p:spPr>
          <a:xfrm>
            <a:off x="777240" y="1252728"/>
            <a:ext cx="685800" cy="68580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691640" y="1143000"/>
            <a:ext cx="6675120" cy="914400"/>
          </a:xfrm>
          <a:prstGeom prst="rect">
            <a:avLst/>
          </a:prstGeom>
          <a:noFill/>
          <a:ln/>
        </p:spPr>
        <p:txBody>
          <a:bodyPr wrap="square" rtlCol="0" anchor="ctr"/>
          <a:lstStyle/>
          <a:p>
            <a:pPr indent="0" marL="0">
              <a:buNone/>
            </a:pPr>
            <a:r>
              <a:rPr lang="en-US" sz="1800" b="1" dirty="0">
                <a:solidFill>
                  <a:srgbClr val="0B1D3A"/>
                </a:solidFill>
              </a:rPr>
              <a:t>Deterministic</a:t>
            </a:r>
            <a:endParaRPr lang="en-US" sz="1800" dirty="0"/>
          </a:p>
          <a:p>
            <a:pPr indent="0" marL="0">
              <a:buNone/>
            </a:pPr>
            <a:r>
              <a:rPr lang="en-US" sz="1300" dirty="0">
                <a:solidFill>
                  <a:srgbClr val="5A7184"/>
                </a:solidFill>
              </a:rPr>
              <a:t>Same input always produces the same output. "hello" → 2cf24d… every single time.</a:t>
            </a:r>
            <a:endParaRPr lang="en-US" sz="1800" dirty="0"/>
          </a:p>
        </p:txBody>
      </p:sp>
      <p:sp>
        <p:nvSpPr>
          <p:cNvPr id="9" name="Shape 7"/>
          <p:cNvSpPr/>
          <p:nvPr/>
        </p:nvSpPr>
        <p:spPr>
          <a:xfrm>
            <a:off x="548640" y="2331720"/>
            <a:ext cx="8046720" cy="10972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0" name="Shape 8"/>
          <p:cNvSpPr/>
          <p:nvPr/>
        </p:nvSpPr>
        <p:spPr>
          <a:xfrm>
            <a:off x="777240" y="2532888"/>
            <a:ext cx="685800" cy="685800"/>
          </a:xfrm>
          <a:prstGeom prst="ellipse">
            <a:avLst/>
          </a:prstGeom>
          <a:solidFill>
            <a:srgbClr val="1C7293"/>
          </a:solidFill>
          <a:ln/>
        </p:spPr>
      </p:sp>
      <p:sp>
        <p:nvSpPr>
          <p:cNvPr id="11" name="Text 9"/>
          <p:cNvSpPr/>
          <p:nvPr/>
        </p:nvSpPr>
        <p:spPr>
          <a:xfrm>
            <a:off x="777240" y="2532888"/>
            <a:ext cx="685800" cy="68580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2" name="Text 10"/>
          <p:cNvSpPr/>
          <p:nvPr/>
        </p:nvSpPr>
        <p:spPr>
          <a:xfrm>
            <a:off x="1691640" y="2423160"/>
            <a:ext cx="6675120" cy="914400"/>
          </a:xfrm>
          <a:prstGeom prst="rect">
            <a:avLst/>
          </a:prstGeom>
          <a:noFill/>
          <a:ln/>
        </p:spPr>
        <p:txBody>
          <a:bodyPr wrap="square" rtlCol="0" anchor="ctr"/>
          <a:lstStyle/>
          <a:p>
            <a:pPr indent="0" marL="0">
              <a:buNone/>
            </a:pPr>
            <a:r>
              <a:rPr lang="en-US" sz="1800" b="1" dirty="0">
                <a:solidFill>
                  <a:srgbClr val="0B1D3A"/>
                </a:solidFill>
              </a:rPr>
              <a:t>One-Way (Pre-image Resistant)</a:t>
            </a:r>
            <a:endParaRPr lang="en-US" sz="1800" dirty="0"/>
          </a:p>
          <a:p>
            <a:pPr indent="0" marL="0">
              <a:buNone/>
            </a:pPr>
            <a:r>
              <a:rPr lang="en-US" sz="1300" dirty="0">
                <a:solidFill>
                  <a:srgbClr val="5A7184"/>
                </a:solidFill>
              </a:rPr>
              <a:t>Given a hash, it is computationally infeasible to recover the original input. You cannot un-hash.</a:t>
            </a:r>
            <a:endParaRPr lang="en-US" sz="1800" dirty="0"/>
          </a:p>
        </p:txBody>
      </p:sp>
      <p:sp>
        <p:nvSpPr>
          <p:cNvPr id="13" name="Shape 11"/>
          <p:cNvSpPr/>
          <p:nvPr/>
        </p:nvSpPr>
        <p:spPr>
          <a:xfrm>
            <a:off x="548640" y="3611880"/>
            <a:ext cx="8046720" cy="109728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4" name="Shape 12"/>
          <p:cNvSpPr/>
          <p:nvPr/>
        </p:nvSpPr>
        <p:spPr>
          <a:xfrm>
            <a:off x="777240" y="3813048"/>
            <a:ext cx="685800" cy="685800"/>
          </a:xfrm>
          <a:prstGeom prst="ellipse">
            <a:avLst/>
          </a:prstGeom>
          <a:solidFill>
            <a:srgbClr val="FF6B35"/>
          </a:solidFill>
          <a:ln/>
        </p:spPr>
      </p:sp>
      <p:sp>
        <p:nvSpPr>
          <p:cNvPr id="15" name="Text 13"/>
          <p:cNvSpPr/>
          <p:nvPr/>
        </p:nvSpPr>
        <p:spPr>
          <a:xfrm>
            <a:off x="777240" y="3813048"/>
            <a:ext cx="685800" cy="68580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6" name="Text 14"/>
          <p:cNvSpPr/>
          <p:nvPr/>
        </p:nvSpPr>
        <p:spPr>
          <a:xfrm>
            <a:off x="1691640" y="3703320"/>
            <a:ext cx="6675120" cy="914400"/>
          </a:xfrm>
          <a:prstGeom prst="rect">
            <a:avLst/>
          </a:prstGeom>
          <a:noFill/>
          <a:ln/>
        </p:spPr>
        <p:txBody>
          <a:bodyPr wrap="square" rtlCol="0" anchor="ctr"/>
          <a:lstStyle/>
          <a:p>
            <a:pPr indent="0" marL="0">
              <a:buNone/>
            </a:pPr>
            <a:r>
              <a:rPr lang="en-US" sz="1800" b="1" dirty="0">
                <a:solidFill>
                  <a:srgbClr val="0B1D3A"/>
                </a:solidFill>
              </a:rPr>
              <a:t>Collision Resistant</a:t>
            </a:r>
            <a:endParaRPr lang="en-US" sz="1800" dirty="0"/>
          </a:p>
          <a:p>
            <a:pPr indent="0" marL="0">
              <a:buNone/>
            </a:pPr>
            <a:r>
              <a:rPr lang="en-US" sz="1300" dirty="0">
                <a:solidFill>
                  <a:srgbClr val="5A7184"/>
                </a:solidFill>
              </a:rPr>
              <a:t>It is extremely hard to find two different inputs that produce the same hash output.</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The Avalanche Effect</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5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Text 3"/>
          <p:cNvSpPr/>
          <p:nvPr/>
        </p:nvSpPr>
        <p:spPr>
          <a:xfrm>
            <a:off x="548640" y="1005840"/>
            <a:ext cx="8046720" cy="457200"/>
          </a:xfrm>
          <a:prstGeom prst="rect">
            <a:avLst/>
          </a:prstGeom>
          <a:noFill/>
          <a:ln/>
        </p:spPr>
        <p:txBody>
          <a:bodyPr wrap="square" rtlCol="0" anchor="ctr"/>
          <a:lstStyle/>
          <a:p>
            <a:pPr indent="0" marL="0">
              <a:buNone/>
            </a:pPr>
            <a:r>
              <a:rPr lang="en-US" sz="1500" i="1" dirty="0">
                <a:solidFill>
                  <a:srgbClr val="5A7184"/>
                </a:solidFill>
              </a:rPr>
              <a:t>A tiny change in input → completely different hash output</a:t>
            </a:r>
            <a:endParaRPr lang="en-US" sz="1500" dirty="0"/>
          </a:p>
        </p:txBody>
      </p:sp>
      <p:sp>
        <p:nvSpPr>
          <p:cNvPr id="6" name="Shape 4"/>
          <p:cNvSpPr/>
          <p:nvPr/>
        </p:nvSpPr>
        <p:spPr>
          <a:xfrm>
            <a:off x="548640" y="1645920"/>
            <a:ext cx="8046720" cy="868680"/>
          </a:xfrm>
          <a:prstGeom prst="rect">
            <a:avLst/>
          </a:prstGeom>
          <a:solidFill>
            <a:srgbClr val="2D3748"/>
          </a:solidFill>
          <a:ln/>
          <a:effectLst>
            <a:outerShdw sx="100000" sy="100000" kx="0" ky="0" algn="bl" rotWithShape="0" blurRad="101600" dist="38100" dir="8100000">
              <a:srgbClr val="000000">
                <a:alpha val="12000"/>
              </a:srgbClr>
            </a:outerShdw>
          </a:effectLst>
        </p:spPr>
      </p:sp>
      <p:sp>
        <p:nvSpPr>
          <p:cNvPr id="7" name="Text 5"/>
          <p:cNvSpPr/>
          <p:nvPr/>
        </p:nvSpPr>
        <p:spPr>
          <a:xfrm>
            <a:off x="777240" y="1719072"/>
            <a:ext cx="3657600" cy="365760"/>
          </a:xfrm>
          <a:prstGeom prst="rect">
            <a:avLst/>
          </a:prstGeom>
          <a:noFill/>
          <a:ln/>
        </p:spPr>
        <p:txBody>
          <a:bodyPr wrap="square" rtlCol="0" anchor="ctr"/>
          <a:lstStyle/>
          <a:p>
            <a:pPr indent="0" marL="0">
              <a:buNone/>
            </a:pPr>
            <a:r>
              <a:rPr lang="en-US" sz="1400" b="1" dirty="0">
                <a:solidFill>
                  <a:srgbClr val="21D19F"/>
                </a:solidFill>
                <a:latin typeface="Consolas" pitchFamily="34" charset="0"/>
                <a:ea typeface="Consolas" pitchFamily="34" charset="-122"/>
                <a:cs typeface="Consolas" pitchFamily="34" charset="-120"/>
              </a:rPr>
              <a:t>SHA-256( "hello" )</a:t>
            </a:r>
            <a:endParaRPr lang="en-US" sz="1400" dirty="0"/>
          </a:p>
        </p:txBody>
      </p:sp>
      <p:sp>
        <p:nvSpPr>
          <p:cNvPr id="8" name="Text 6"/>
          <p:cNvSpPr/>
          <p:nvPr/>
        </p:nvSpPr>
        <p:spPr>
          <a:xfrm>
            <a:off x="777240" y="2084832"/>
            <a:ext cx="7589520" cy="365760"/>
          </a:xfrm>
          <a:prstGeom prst="rect">
            <a:avLst/>
          </a:prstGeom>
          <a:noFill/>
          <a:ln/>
        </p:spPr>
        <p:txBody>
          <a:bodyPr wrap="square" rtlCol="0" anchor="ctr"/>
          <a:lstStyle/>
          <a:p>
            <a:pPr indent="0" marL="0">
              <a:buNone/>
            </a:pPr>
            <a:r>
              <a:rPr lang="en-US" sz="1300" dirty="0">
                <a:solidFill>
                  <a:srgbClr val="A0AEC0"/>
                </a:solidFill>
                <a:latin typeface="Consolas" pitchFamily="34" charset="0"/>
                <a:ea typeface="Consolas" pitchFamily="34" charset="-122"/>
                <a:cs typeface="Consolas" pitchFamily="34" charset="-120"/>
              </a:rPr>
              <a:t>= 2cf24dba5fb0a30e26e83b2a...</a:t>
            </a:r>
            <a:endParaRPr lang="en-US" sz="1300" dirty="0"/>
          </a:p>
        </p:txBody>
      </p:sp>
      <p:sp>
        <p:nvSpPr>
          <p:cNvPr id="9" name="Shape 7"/>
          <p:cNvSpPr/>
          <p:nvPr/>
        </p:nvSpPr>
        <p:spPr>
          <a:xfrm>
            <a:off x="548640" y="2697480"/>
            <a:ext cx="8046720" cy="868680"/>
          </a:xfrm>
          <a:prstGeom prst="rect">
            <a:avLst/>
          </a:prstGeom>
          <a:solidFill>
            <a:srgbClr val="2D3748"/>
          </a:solidFill>
          <a:ln/>
          <a:effectLst>
            <a:outerShdw sx="100000" sy="100000" kx="0" ky="0" algn="bl" rotWithShape="0" blurRad="101600" dist="38100" dir="8100000">
              <a:srgbClr val="000000">
                <a:alpha val="12000"/>
              </a:srgbClr>
            </a:outerShdw>
          </a:effectLst>
        </p:spPr>
      </p:sp>
      <p:sp>
        <p:nvSpPr>
          <p:cNvPr id="10" name="Text 8"/>
          <p:cNvSpPr/>
          <p:nvPr/>
        </p:nvSpPr>
        <p:spPr>
          <a:xfrm>
            <a:off x="777240" y="2770632"/>
            <a:ext cx="3657600" cy="365760"/>
          </a:xfrm>
          <a:prstGeom prst="rect">
            <a:avLst/>
          </a:prstGeom>
          <a:noFill/>
          <a:ln/>
        </p:spPr>
        <p:txBody>
          <a:bodyPr wrap="square" rtlCol="0" anchor="ctr"/>
          <a:lstStyle/>
          <a:p>
            <a:pPr indent="0" marL="0">
              <a:buNone/>
            </a:pPr>
            <a:r>
              <a:rPr lang="en-US" sz="1400" b="1" dirty="0">
                <a:solidFill>
                  <a:srgbClr val="21D19F"/>
                </a:solidFill>
                <a:latin typeface="Consolas" pitchFamily="34" charset="0"/>
                <a:ea typeface="Consolas" pitchFamily="34" charset="-122"/>
                <a:cs typeface="Consolas" pitchFamily="34" charset="-120"/>
              </a:rPr>
              <a:t>SHA-256( "Hello" )</a:t>
            </a:r>
            <a:endParaRPr lang="en-US" sz="1400" dirty="0"/>
          </a:p>
        </p:txBody>
      </p:sp>
      <p:sp>
        <p:nvSpPr>
          <p:cNvPr id="11" name="Text 9"/>
          <p:cNvSpPr/>
          <p:nvPr/>
        </p:nvSpPr>
        <p:spPr>
          <a:xfrm>
            <a:off x="777240" y="3136392"/>
            <a:ext cx="7589520" cy="365760"/>
          </a:xfrm>
          <a:prstGeom prst="rect">
            <a:avLst/>
          </a:prstGeom>
          <a:noFill/>
          <a:ln/>
        </p:spPr>
        <p:txBody>
          <a:bodyPr wrap="square" rtlCol="0" anchor="ctr"/>
          <a:lstStyle/>
          <a:p>
            <a:pPr indent="0" marL="0">
              <a:buNone/>
            </a:pPr>
            <a:r>
              <a:rPr lang="en-US" sz="1300" dirty="0">
                <a:solidFill>
                  <a:srgbClr val="A0AEC0"/>
                </a:solidFill>
                <a:latin typeface="Consolas" pitchFamily="34" charset="0"/>
                <a:ea typeface="Consolas" pitchFamily="34" charset="-122"/>
                <a:cs typeface="Consolas" pitchFamily="34" charset="-120"/>
              </a:rPr>
              <a:t>= 185f8db32271fe25f561a6fc...</a:t>
            </a:r>
            <a:endParaRPr lang="en-US" sz="1300" dirty="0"/>
          </a:p>
        </p:txBody>
      </p:sp>
      <p:sp>
        <p:nvSpPr>
          <p:cNvPr id="12" name="Shape 10"/>
          <p:cNvSpPr/>
          <p:nvPr/>
        </p:nvSpPr>
        <p:spPr>
          <a:xfrm>
            <a:off x="548640" y="3749040"/>
            <a:ext cx="8046720" cy="868680"/>
          </a:xfrm>
          <a:prstGeom prst="rect">
            <a:avLst/>
          </a:prstGeom>
          <a:solidFill>
            <a:srgbClr val="2D3748"/>
          </a:solidFill>
          <a:ln/>
          <a:effectLst>
            <a:outerShdw sx="100000" sy="100000" kx="0" ky="0" algn="bl" rotWithShape="0" blurRad="101600" dist="38100" dir="8100000">
              <a:srgbClr val="000000">
                <a:alpha val="12000"/>
              </a:srgbClr>
            </a:outerShdw>
          </a:effectLst>
        </p:spPr>
      </p:sp>
      <p:sp>
        <p:nvSpPr>
          <p:cNvPr id="13" name="Text 11"/>
          <p:cNvSpPr/>
          <p:nvPr/>
        </p:nvSpPr>
        <p:spPr>
          <a:xfrm>
            <a:off x="777240" y="3822192"/>
            <a:ext cx="3657600" cy="365760"/>
          </a:xfrm>
          <a:prstGeom prst="rect">
            <a:avLst/>
          </a:prstGeom>
          <a:noFill/>
          <a:ln/>
        </p:spPr>
        <p:txBody>
          <a:bodyPr wrap="square" rtlCol="0" anchor="ctr"/>
          <a:lstStyle/>
          <a:p>
            <a:pPr indent="0" marL="0">
              <a:buNone/>
            </a:pPr>
            <a:r>
              <a:rPr lang="en-US" sz="1400" b="1" dirty="0">
                <a:solidFill>
                  <a:srgbClr val="21D19F"/>
                </a:solidFill>
                <a:latin typeface="Consolas" pitchFamily="34" charset="0"/>
                <a:ea typeface="Consolas" pitchFamily="34" charset="-122"/>
                <a:cs typeface="Consolas" pitchFamily="34" charset="-120"/>
              </a:rPr>
              <a:t>SHA-256( "hello!" )</a:t>
            </a:r>
            <a:endParaRPr lang="en-US" sz="1400" dirty="0"/>
          </a:p>
        </p:txBody>
      </p:sp>
      <p:sp>
        <p:nvSpPr>
          <p:cNvPr id="14" name="Text 12"/>
          <p:cNvSpPr/>
          <p:nvPr/>
        </p:nvSpPr>
        <p:spPr>
          <a:xfrm>
            <a:off x="777240" y="4187952"/>
            <a:ext cx="7589520" cy="365760"/>
          </a:xfrm>
          <a:prstGeom prst="rect">
            <a:avLst/>
          </a:prstGeom>
          <a:noFill/>
          <a:ln/>
        </p:spPr>
        <p:txBody>
          <a:bodyPr wrap="square" rtlCol="0" anchor="ctr"/>
          <a:lstStyle/>
          <a:p>
            <a:pPr indent="0" marL="0">
              <a:buNone/>
            </a:pPr>
            <a:r>
              <a:rPr lang="en-US" sz="1300" dirty="0">
                <a:solidFill>
                  <a:srgbClr val="A0AEC0"/>
                </a:solidFill>
                <a:latin typeface="Consolas" pitchFamily="34" charset="0"/>
                <a:ea typeface="Consolas" pitchFamily="34" charset="-122"/>
                <a:cs typeface="Consolas" pitchFamily="34" charset="-120"/>
              </a:rPr>
              <a:t>= ce06092fb948d9ffac7d1a37...</a:t>
            </a:r>
            <a:endParaRPr lang="en-US" sz="1300" dirty="0"/>
          </a:p>
        </p:txBody>
      </p:sp>
      <p:sp>
        <p:nvSpPr>
          <p:cNvPr id="15" name="Shape 13"/>
          <p:cNvSpPr/>
          <p:nvPr/>
        </p:nvSpPr>
        <p:spPr>
          <a:xfrm>
            <a:off x="548640" y="4160520"/>
            <a:ext cx="8046720" cy="457200"/>
          </a:xfrm>
          <a:prstGeom prst="rect">
            <a:avLst/>
          </a:prstGeom>
          <a:solidFill>
            <a:srgbClr val="FF6B35">
              <a:alpha val="15000"/>
            </a:srgbClr>
          </a:solidFill>
          <a:ln/>
        </p:spPr>
      </p:sp>
      <p:sp>
        <p:nvSpPr>
          <p:cNvPr id="16" name="Text 14"/>
          <p:cNvSpPr/>
          <p:nvPr/>
        </p:nvSpPr>
        <p:spPr>
          <a:xfrm>
            <a:off x="731520" y="4160520"/>
            <a:ext cx="7680960" cy="457200"/>
          </a:xfrm>
          <a:prstGeom prst="rect">
            <a:avLst/>
          </a:prstGeom>
          <a:noFill/>
          <a:ln/>
        </p:spPr>
        <p:txBody>
          <a:bodyPr wrap="square" rtlCol="0" anchor="ctr"/>
          <a:lstStyle/>
          <a:p>
            <a:pPr indent="0" marL="0">
              <a:buNone/>
            </a:pPr>
            <a:r>
              <a:rPr lang="en-US" sz="1400" b="1" dirty="0">
                <a:solidFill>
                  <a:srgbClr val="FF6B35"/>
                </a:solidFill>
              </a:rPr>
              <a:t>Just changing ‘h’ to ‘H’ changes every character of the hash!</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Application: Password Storage</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6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Text 3"/>
          <p:cNvSpPr/>
          <p:nvPr/>
        </p:nvSpPr>
        <p:spPr>
          <a:xfrm>
            <a:off x="548640" y="960120"/>
            <a:ext cx="7315200" cy="365760"/>
          </a:xfrm>
          <a:prstGeom prst="rect">
            <a:avLst/>
          </a:prstGeom>
          <a:noFill/>
          <a:ln/>
        </p:spPr>
        <p:txBody>
          <a:bodyPr wrap="square" rtlCol="0" anchor="ctr"/>
          <a:lstStyle/>
          <a:p>
            <a:pPr indent="0" marL="0">
              <a:buNone/>
            </a:pPr>
            <a:r>
              <a:rPr lang="en-US" sz="1400" i="1" dirty="0">
                <a:solidFill>
                  <a:srgbClr val="5A7184"/>
                </a:solidFill>
              </a:rPr>
              <a:t>Answering our opening question…</a:t>
            </a:r>
            <a:endParaRPr lang="en-US" sz="1400" dirty="0"/>
          </a:p>
        </p:txBody>
      </p:sp>
      <p:sp>
        <p:nvSpPr>
          <p:cNvPr id="6" name="Shape 4"/>
          <p:cNvSpPr/>
          <p:nvPr/>
        </p:nvSpPr>
        <p:spPr>
          <a:xfrm>
            <a:off x="548640" y="1508760"/>
            <a:ext cx="2606040" cy="23774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1508760" y="1691640"/>
            <a:ext cx="685800" cy="685800"/>
          </a:xfrm>
          <a:prstGeom prst="ellipse">
            <a:avLst/>
          </a:prstGeom>
          <a:solidFill>
            <a:srgbClr val="065A82"/>
          </a:solidFill>
          <a:ln/>
        </p:spPr>
      </p:sp>
      <p:sp>
        <p:nvSpPr>
          <p:cNvPr id="8" name="Text 6"/>
          <p:cNvSpPr/>
          <p:nvPr/>
        </p:nvSpPr>
        <p:spPr>
          <a:xfrm>
            <a:off x="1508760" y="1691640"/>
            <a:ext cx="685800" cy="68580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1</a:t>
            </a:r>
            <a:endParaRPr lang="en-US" sz="2200" dirty="0"/>
          </a:p>
        </p:txBody>
      </p:sp>
      <p:sp>
        <p:nvSpPr>
          <p:cNvPr id="9" name="Text 7"/>
          <p:cNvSpPr/>
          <p:nvPr/>
        </p:nvSpPr>
        <p:spPr>
          <a:xfrm>
            <a:off x="731520" y="2514600"/>
            <a:ext cx="2240280" cy="1188720"/>
          </a:xfrm>
          <a:prstGeom prst="rect">
            <a:avLst/>
          </a:prstGeom>
          <a:noFill/>
          <a:ln/>
        </p:spPr>
        <p:txBody>
          <a:bodyPr wrap="square" rtlCol="0" anchor="ctr"/>
          <a:lstStyle/>
          <a:p>
            <a:pPr algn="ctr" indent="0" marL="0">
              <a:buNone/>
            </a:pPr>
            <a:r>
              <a:rPr lang="en-US" sz="1600" b="1" dirty="0">
                <a:solidFill>
                  <a:srgbClr val="0B1D3A"/>
                </a:solidFill>
              </a:rPr>
              <a:t>You sign up</a:t>
            </a:r>
            <a:endParaRPr lang="en-US" sz="1600" dirty="0"/>
          </a:p>
          <a:p>
            <a:pPr algn="ctr" indent="0" marL="0">
              <a:buNone/>
            </a:pPr>
            <a:r>
              <a:rPr lang="en-US" sz="1300" dirty="0">
                <a:solidFill>
                  <a:srgbClr val="5A7184"/>
                </a:solidFill>
              </a:rPr>
              <a:t>Server hashes your password and stores only the hash.</a:t>
            </a:r>
            <a:endParaRPr lang="en-US" sz="1600" dirty="0"/>
          </a:p>
        </p:txBody>
      </p:sp>
      <p:sp>
        <p:nvSpPr>
          <p:cNvPr id="10" name="Shape 8"/>
          <p:cNvSpPr/>
          <p:nvPr/>
        </p:nvSpPr>
        <p:spPr>
          <a:xfrm>
            <a:off x="3429000" y="1508760"/>
            <a:ext cx="2606040" cy="23774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1" name="Shape 9"/>
          <p:cNvSpPr/>
          <p:nvPr/>
        </p:nvSpPr>
        <p:spPr>
          <a:xfrm>
            <a:off x="4389120" y="1691640"/>
            <a:ext cx="685800" cy="685800"/>
          </a:xfrm>
          <a:prstGeom prst="ellipse">
            <a:avLst/>
          </a:prstGeom>
          <a:solidFill>
            <a:srgbClr val="1C7293"/>
          </a:solidFill>
          <a:ln/>
        </p:spPr>
      </p:sp>
      <p:sp>
        <p:nvSpPr>
          <p:cNvPr id="12" name="Text 10"/>
          <p:cNvSpPr/>
          <p:nvPr/>
        </p:nvSpPr>
        <p:spPr>
          <a:xfrm>
            <a:off x="4389120" y="1691640"/>
            <a:ext cx="685800" cy="68580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13" name="Text 11"/>
          <p:cNvSpPr/>
          <p:nvPr/>
        </p:nvSpPr>
        <p:spPr>
          <a:xfrm>
            <a:off x="3611880" y="2514600"/>
            <a:ext cx="2240280" cy="1188720"/>
          </a:xfrm>
          <a:prstGeom prst="rect">
            <a:avLst/>
          </a:prstGeom>
          <a:noFill/>
          <a:ln/>
        </p:spPr>
        <p:txBody>
          <a:bodyPr wrap="square" rtlCol="0" anchor="ctr"/>
          <a:lstStyle/>
          <a:p>
            <a:pPr algn="ctr" indent="0" marL="0">
              <a:buNone/>
            </a:pPr>
            <a:r>
              <a:rPr lang="en-US" sz="1600" b="1" dirty="0">
                <a:solidFill>
                  <a:srgbClr val="0B1D3A"/>
                </a:solidFill>
              </a:rPr>
              <a:t>You log in</a:t>
            </a:r>
            <a:endParaRPr lang="en-US" sz="1600" dirty="0"/>
          </a:p>
          <a:p>
            <a:pPr algn="ctr" indent="0" marL="0">
              <a:buNone/>
            </a:pPr>
            <a:r>
              <a:rPr lang="en-US" sz="1300" dirty="0">
                <a:solidFill>
                  <a:srgbClr val="5A7184"/>
                </a:solidFill>
              </a:rPr>
              <a:t>Server hashes what you typed and compares hashes.</a:t>
            </a:r>
            <a:endParaRPr lang="en-US" sz="1600" dirty="0"/>
          </a:p>
        </p:txBody>
      </p:sp>
      <p:sp>
        <p:nvSpPr>
          <p:cNvPr id="14" name="Shape 12"/>
          <p:cNvSpPr/>
          <p:nvPr/>
        </p:nvSpPr>
        <p:spPr>
          <a:xfrm>
            <a:off x="6309360" y="1508760"/>
            <a:ext cx="2606040" cy="237744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5" name="Shape 13"/>
          <p:cNvSpPr/>
          <p:nvPr/>
        </p:nvSpPr>
        <p:spPr>
          <a:xfrm>
            <a:off x="7269480" y="1691640"/>
            <a:ext cx="685800" cy="685800"/>
          </a:xfrm>
          <a:prstGeom prst="ellipse">
            <a:avLst/>
          </a:prstGeom>
          <a:solidFill>
            <a:srgbClr val="FF6B35"/>
          </a:solidFill>
          <a:ln/>
        </p:spPr>
      </p:sp>
      <p:sp>
        <p:nvSpPr>
          <p:cNvPr id="16" name="Text 14"/>
          <p:cNvSpPr/>
          <p:nvPr/>
        </p:nvSpPr>
        <p:spPr>
          <a:xfrm>
            <a:off x="7269480" y="1691640"/>
            <a:ext cx="685800" cy="685800"/>
          </a:xfrm>
          <a:prstGeom prst="rect">
            <a:avLst/>
          </a:prstGeom>
          <a:noFill/>
          <a:ln/>
        </p:spPr>
        <p:txBody>
          <a:bodyPr wrap="square"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17" name="Text 15"/>
          <p:cNvSpPr/>
          <p:nvPr/>
        </p:nvSpPr>
        <p:spPr>
          <a:xfrm>
            <a:off x="6492240" y="2514600"/>
            <a:ext cx="2240280" cy="1188720"/>
          </a:xfrm>
          <a:prstGeom prst="rect">
            <a:avLst/>
          </a:prstGeom>
          <a:noFill/>
          <a:ln/>
        </p:spPr>
        <p:txBody>
          <a:bodyPr wrap="square" rtlCol="0" anchor="ctr"/>
          <a:lstStyle/>
          <a:p>
            <a:pPr algn="ctr" indent="0" marL="0">
              <a:buNone/>
            </a:pPr>
            <a:r>
              <a:rPr lang="en-US" sz="1600" b="1" dirty="0">
                <a:solidFill>
                  <a:srgbClr val="0B1D3A"/>
                </a:solidFill>
              </a:rPr>
              <a:t>Database breach?</a:t>
            </a:r>
            <a:endParaRPr lang="en-US" sz="1600" dirty="0"/>
          </a:p>
          <a:p>
            <a:pPr algn="ctr" indent="0" marL="0">
              <a:buNone/>
            </a:pPr>
            <a:r>
              <a:rPr lang="en-US" sz="1300" dirty="0">
                <a:solidFill>
                  <a:srgbClr val="5A7184"/>
                </a:solidFill>
              </a:rPr>
              <a:t>Attacker sees hashes, NOT passwords. Cannot reverse them!</a:t>
            </a:r>
            <a:endParaRPr lang="en-US" sz="1600" dirty="0"/>
          </a:p>
        </p:txBody>
      </p:sp>
      <p:sp>
        <p:nvSpPr>
          <p:cNvPr id="18" name="Text 16"/>
          <p:cNvSpPr/>
          <p:nvPr/>
        </p:nvSpPr>
        <p:spPr>
          <a:xfrm>
            <a:off x="3154680" y="2286000"/>
            <a:ext cx="365760" cy="457200"/>
          </a:xfrm>
          <a:prstGeom prst="rect">
            <a:avLst/>
          </a:prstGeom>
          <a:noFill/>
          <a:ln/>
        </p:spPr>
        <p:txBody>
          <a:bodyPr wrap="square" rtlCol="0" anchor="ctr"/>
          <a:lstStyle/>
          <a:p>
            <a:pPr algn="ctr" indent="0" marL="0">
              <a:buNone/>
            </a:pPr>
            <a:r>
              <a:rPr lang="en-US" sz="2800" dirty="0">
                <a:solidFill>
                  <a:srgbClr val="1C7293"/>
                </a:solidFill>
              </a:rPr>
              <a:t>→</a:t>
            </a:r>
            <a:endParaRPr lang="en-US" sz="2800" dirty="0"/>
          </a:p>
        </p:txBody>
      </p:sp>
      <p:sp>
        <p:nvSpPr>
          <p:cNvPr id="19" name="Text 17"/>
          <p:cNvSpPr/>
          <p:nvPr/>
        </p:nvSpPr>
        <p:spPr>
          <a:xfrm>
            <a:off x="6035040" y="2286000"/>
            <a:ext cx="365760" cy="457200"/>
          </a:xfrm>
          <a:prstGeom prst="rect">
            <a:avLst/>
          </a:prstGeom>
          <a:noFill/>
          <a:ln/>
        </p:spPr>
        <p:txBody>
          <a:bodyPr wrap="square" rtlCol="0" anchor="ctr"/>
          <a:lstStyle/>
          <a:p>
            <a:pPr algn="ctr" indent="0" marL="0">
              <a:buNone/>
            </a:pPr>
            <a:r>
              <a:rPr lang="en-US" sz="2800" dirty="0">
                <a:solidFill>
                  <a:srgbClr val="1C7293"/>
                </a:solidFill>
              </a:rPr>
              <a:t>→</a:t>
            </a:r>
            <a:endParaRPr lang="en-US" sz="2800" dirty="0"/>
          </a:p>
        </p:txBody>
      </p:sp>
      <p:sp>
        <p:nvSpPr>
          <p:cNvPr id="20" name="Shape 18"/>
          <p:cNvSpPr/>
          <p:nvPr/>
        </p:nvSpPr>
        <p:spPr>
          <a:xfrm>
            <a:off x="548640" y="4114800"/>
            <a:ext cx="8046720" cy="502920"/>
          </a:xfrm>
          <a:prstGeom prst="rect">
            <a:avLst/>
          </a:prstGeom>
          <a:solidFill>
            <a:srgbClr val="0B1D3A"/>
          </a:solidFill>
          <a:ln/>
        </p:spPr>
      </p:sp>
      <p:sp>
        <p:nvSpPr>
          <p:cNvPr id="21" name="Text 19"/>
          <p:cNvSpPr/>
          <p:nvPr/>
        </p:nvSpPr>
        <p:spPr>
          <a:xfrm>
            <a:off x="731520" y="4114800"/>
            <a:ext cx="7680960" cy="502920"/>
          </a:xfrm>
          <a:prstGeom prst="rect">
            <a:avLst/>
          </a:prstGeom>
          <a:noFill/>
          <a:ln/>
        </p:spPr>
        <p:txBody>
          <a:bodyPr wrap="square" rtlCol="0" anchor="ctr"/>
          <a:lstStyle/>
          <a:p>
            <a:pPr indent="0" marL="0">
              <a:buNone/>
            </a:pPr>
            <a:r>
              <a:rPr lang="en-US" sz="1500" b="1" dirty="0">
                <a:solidFill>
                  <a:srgbClr val="21D19F"/>
                </a:solidFill>
              </a:rPr>
              <a:t>Key insight: The server never needs to know your actual password!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Application: Data Integrity</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7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Text 3"/>
          <p:cNvSpPr/>
          <p:nvPr/>
        </p:nvSpPr>
        <p:spPr>
          <a:xfrm>
            <a:off x="548640" y="1005840"/>
            <a:ext cx="8046720" cy="411480"/>
          </a:xfrm>
          <a:prstGeom prst="rect">
            <a:avLst/>
          </a:prstGeom>
          <a:noFill/>
          <a:ln/>
        </p:spPr>
        <p:txBody>
          <a:bodyPr wrap="square" rtlCol="0" anchor="ctr"/>
          <a:lstStyle/>
          <a:p>
            <a:pPr indent="0" marL="0">
              <a:buNone/>
            </a:pPr>
            <a:r>
              <a:rPr lang="en-US" sz="1500" i="1" dirty="0">
                <a:solidFill>
                  <a:srgbClr val="5A7184"/>
                </a:solidFill>
              </a:rPr>
              <a:t>How do you know a downloaded file has not been tampered with?</a:t>
            </a:r>
            <a:endParaRPr lang="en-US" sz="1500" dirty="0"/>
          </a:p>
        </p:txBody>
      </p:sp>
      <p:sp>
        <p:nvSpPr>
          <p:cNvPr id="6" name="Shape 4"/>
          <p:cNvSpPr/>
          <p:nvPr/>
        </p:nvSpPr>
        <p:spPr>
          <a:xfrm>
            <a:off x="548640" y="1600200"/>
            <a:ext cx="3794760" cy="25603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548640" y="1600200"/>
            <a:ext cx="3794760" cy="457200"/>
          </a:xfrm>
          <a:prstGeom prst="rect">
            <a:avLst/>
          </a:prstGeom>
          <a:solidFill>
            <a:srgbClr val="065A82"/>
          </a:solidFill>
          <a:ln/>
        </p:spPr>
      </p:sp>
      <p:sp>
        <p:nvSpPr>
          <p:cNvPr id="8" name="Text 6"/>
          <p:cNvSpPr/>
          <p:nvPr/>
        </p:nvSpPr>
        <p:spPr>
          <a:xfrm>
            <a:off x="548640" y="1600200"/>
            <a:ext cx="3794760" cy="457200"/>
          </a:xfrm>
          <a:prstGeom prst="rect">
            <a:avLst/>
          </a:prstGeom>
          <a:noFill/>
          <a:ln/>
        </p:spPr>
        <p:txBody>
          <a:bodyPr wrap="square" rtlCol="0" anchor="ctr"/>
          <a:lstStyle/>
          <a:p>
            <a:pPr algn="ctr" indent="0" marL="0">
              <a:buNone/>
            </a:pPr>
            <a:r>
              <a:rPr lang="en-US" sz="1400" b="1" dirty="0">
                <a:solidFill>
                  <a:srgbClr val="FFFFFF"/>
                </a:solidFill>
              </a:rPr>
              <a:t>SENDER</a:t>
            </a:r>
            <a:endParaRPr lang="en-US" sz="1400" dirty="0"/>
          </a:p>
        </p:txBody>
      </p:sp>
      <p:sp>
        <p:nvSpPr>
          <p:cNvPr id="9" name="Text 7"/>
          <p:cNvSpPr/>
          <p:nvPr/>
        </p:nvSpPr>
        <p:spPr>
          <a:xfrm>
            <a:off x="777240" y="2194560"/>
            <a:ext cx="3337560" cy="1828800"/>
          </a:xfrm>
          <a:prstGeom prst="rect">
            <a:avLst/>
          </a:prstGeom>
          <a:noFill/>
          <a:ln/>
        </p:spPr>
        <p:txBody>
          <a:bodyPr wrap="square" rtlCol="0" anchor="ctr"/>
          <a:lstStyle/>
          <a:p>
            <a:pPr marL="342900" indent="-342900">
              <a:buSzPct val="100000"/>
              <a:buChar char="•"/>
            </a:pPr>
            <a:r>
              <a:rPr lang="en-US" sz="1400" dirty="0">
                <a:solidFill>
                  <a:srgbClr val="1A1A2E"/>
                </a:solidFill>
              </a:rPr>
              <a:t>1. Computes hash of file</a:t>
            </a:r>
            <a:endParaRPr lang="en-US" sz="1400" dirty="0"/>
          </a:p>
          <a:p>
            <a:pPr marL="342900" indent="-342900">
              <a:buSzPct val="100000"/>
              <a:buChar char="•"/>
            </a:pPr>
            <a:r>
              <a:rPr lang="en-US" sz="1400" dirty="0">
                <a:solidFill>
                  <a:srgbClr val="1A1A2E"/>
                </a:solidFill>
              </a:rPr>
              <a:t>2. Publishes file + hash</a:t>
            </a:r>
            <a:endParaRPr lang="en-US" sz="1400" dirty="0"/>
          </a:p>
          <a:p>
            <a:pPr indent="0" marL="0">
              <a:buNone/>
            </a:pPr>
            <a:endParaRPr lang="en-US" sz="1400" dirty="0"/>
          </a:p>
          <a:p>
            <a:pPr indent="0" marL="0">
              <a:buNone/>
            </a:pPr>
            <a:r>
              <a:rPr lang="en-US" sz="1200" i="1" dirty="0">
                <a:solidFill>
                  <a:srgbClr val="5A7184"/>
                </a:solidFill>
              </a:rPr>
              <a:t>Example: Software download pages show SHA-256 checksums</a:t>
            </a:r>
            <a:endParaRPr lang="en-US" sz="1400" dirty="0"/>
          </a:p>
        </p:txBody>
      </p:sp>
      <p:sp>
        <p:nvSpPr>
          <p:cNvPr id="10" name="Shape 8"/>
          <p:cNvSpPr/>
          <p:nvPr/>
        </p:nvSpPr>
        <p:spPr>
          <a:xfrm>
            <a:off x="4800600" y="1600200"/>
            <a:ext cx="3794760" cy="256032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1" name="Shape 9"/>
          <p:cNvSpPr/>
          <p:nvPr/>
        </p:nvSpPr>
        <p:spPr>
          <a:xfrm>
            <a:off x="4800600" y="1600200"/>
            <a:ext cx="3794760" cy="457200"/>
          </a:xfrm>
          <a:prstGeom prst="rect">
            <a:avLst/>
          </a:prstGeom>
          <a:solidFill>
            <a:srgbClr val="1C7293"/>
          </a:solidFill>
          <a:ln/>
        </p:spPr>
      </p:sp>
      <p:sp>
        <p:nvSpPr>
          <p:cNvPr id="12" name="Text 10"/>
          <p:cNvSpPr/>
          <p:nvPr/>
        </p:nvSpPr>
        <p:spPr>
          <a:xfrm>
            <a:off x="4800600" y="1600200"/>
            <a:ext cx="3794760" cy="457200"/>
          </a:xfrm>
          <a:prstGeom prst="rect">
            <a:avLst/>
          </a:prstGeom>
          <a:noFill/>
          <a:ln/>
        </p:spPr>
        <p:txBody>
          <a:bodyPr wrap="square" rtlCol="0" anchor="ctr"/>
          <a:lstStyle/>
          <a:p>
            <a:pPr algn="ctr" indent="0" marL="0">
              <a:buNone/>
            </a:pPr>
            <a:r>
              <a:rPr lang="en-US" sz="1400" b="1" dirty="0">
                <a:solidFill>
                  <a:srgbClr val="FFFFFF"/>
                </a:solidFill>
              </a:rPr>
              <a:t>RECEIVER</a:t>
            </a:r>
            <a:endParaRPr lang="en-US" sz="1400" dirty="0"/>
          </a:p>
        </p:txBody>
      </p:sp>
      <p:sp>
        <p:nvSpPr>
          <p:cNvPr id="13" name="Text 11"/>
          <p:cNvSpPr/>
          <p:nvPr/>
        </p:nvSpPr>
        <p:spPr>
          <a:xfrm>
            <a:off x="5029200" y="2194560"/>
            <a:ext cx="3337560" cy="1828800"/>
          </a:xfrm>
          <a:prstGeom prst="rect">
            <a:avLst/>
          </a:prstGeom>
          <a:noFill/>
          <a:ln/>
        </p:spPr>
        <p:txBody>
          <a:bodyPr wrap="square" rtlCol="0" anchor="ctr"/>
          <a:lstStyle/>
          <a:p>
            <a:pPr marL="342900" indent="-342900">
              <a:buSzPct val="100000"/>
              <a:buChar char="•"/>
            </a:pPr>
            <a:r>
              <a:rPr lang="en-US" sz="1400" dirty="0">
                <a:solidFill>
                  <a:srgbClr val="1A1A2E"/>
                </a:solidFill>
              </a:rPr>
              <a:t>1. Downloads the file</a:t>
            </a:r>
            <a:endParaRPr lang="en-US" sz="1400" dirty="0"/>
          </a:p>
          <a:p>
            <a:pPr marL="342900" indent="-342900">
              <a:buSzPct val="100000"/>
              <a:buChar char="•"/>
            </a:pPr>
            <a:r>
              <a:rPr lang="en-US" sz="1400" dirty="0">
                <a:solidFill>
                  <a:srgbClr val="1A1A2E"/>
                </a:solidFill>
              </a:rPr>
              <a:t>2. Computes hash locally</a:t>
            </a:r>
            <a:endParaRPr lang="en-US" sz="1400" dirty="0"/>
          </a:p>
          <a:p>
            <a:pPr marL="342900" indent="-342900">
              <a:buSzPct val="100000"/>
              <a:buChar char="•"/>
            </a:pPr>
            <a:r>
              <a:rPr lang="en-US" sz="1400" dirty="0">
                <a:solidFill>
                  <a:srgbClr val="1A1A2E"/>
                </a:solidFill>
              </a:rPr>
              <a:t>3. Compares: Match? → Safe!</a:t>
            </a:r>
            <a:endParaRPr lang="en-US" sz="1400" dirty="0"/>
          </a:p>
          <a:p>
            <a:pPr indent="0" marL="0">
              <a:buNone/>
            </a:pPr>
            <a:endParaRPr lang="en-US" sz="1400" dirty="0"/>
          </a:p>
          <a:p>
            <a:pPr indent="0" marL="0">
              <a:buNone/>
            </a:pPr>
            <a:r>
              <a:rPr lang="en-US" sz="1200" i="1" dirty="0">
                <a:solidFill>
                  <a:srgbClr val="FF6B35"/>
                </a:solidFill>
              </a:rPr>
              <a:t>Any tampering changes the hash completely (avalanche effect!)</a:t>
            </a:r>
            <a:endParaRPr lang="en-US" sz="1400" dirty="0"/>
          </a:p>
        </p:txBody>
      </p:sp>
      <p:sp>
        <p:nvSpPr>
          <p:cNvPr id="14" name="Shape 12"/>
          <p:cNvSpPr/>
          <p:nvPr/>
        </p:nvSpPr>
        <p:spPr>
          <a:xfrm>
            <a:off x="548640" y="4297680"/>
            <a:ext cx="8046720" cy="365760"/>
          </a:xfrm>
          <a:prstGeom prst="rect">
            <a:avLst/>
          </a:prstGeom>
          <a:solidFill>
            <a:srgbClr val="0B1D3A"/>
          </a:solidFill>
          <a:ln/>
        </p:spPr>
      </p:sp>
      <p:sp>
        <p:nvSpPr>
          <p:cNvPr id="15" name="Text 13"/>
          <p:cNvSpPr/>
          <p:nvPr/>
        </p:nvSpPr>
        <p:spPr>
          <a:xfrm>
            <a:off x="731520" y="4297680"/>
            <a:ext cx="7680960" cy="365760"/>
          </a:xfrm>
          <a:prstGeom prst="rect">
            <a:avLst/>
          </a:prstGeom>
          <a:noFill/>
          <a:ln/>
        </p:spPr>
        <p:txBody>
          <a:bodyPr wrap="square" rtlCol="0" anchor="ctr"/>
          <a:lstStyle/>
          <a:p>
            <a:pPr indent="0" marL="0">
              <a:buNone/>
            </a:pPr>
            <a:r>
              <a:rPr lang="en-US" sz="1400" b="1" dirty="0">
                <a:solidFill>
                  <a:srgbClr val="21D19F"/>
                </a:solidFill>
              </a:rPr>
              <a:t>This same idea scales up to protect entire blockchains…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9FB"/>
        </a:solidFill>
      </p:bgPr>
    </p:bg>
    <p:spTree>
      <p:nvGrpSpPr>
        <p:cNvPr id="1" name=""/>
        <p:cNvGrpSpPr/>
        <p:nvPr/>
      </p:nvGrpSpPr>
      <p:grpSpPr>
        <a:xfrm>
          <a:off x="0" y="0"/>
          <a:ext cx="0" cy="0"/>
          <a:chOff x="0" y="0"/>
          <a:chExt cx="0" cy="0"/>
        </a:xfrm>
      </p:grpSpPr>
      <p:sp>
        <p:nvSpPr>
          <p:cNvPr id="2" name="Text 0"/>
          <p:cNvSpPr/>
          <p:nvPr/>
        </p:nvSpPr>
        <p:spPr>
          <a:xfrm>
            <a:off x="548640" y="274320"/>
            <a:ext cx="8046720" cy="594360"/>
          </a:xfrm>
          <a:prstGeom prst="rect">
            <a:avLst/>
          </a:prstGeom>
          <a:noFill/>
          <a:ln/>
        </p:spPr>
        <p:txBody>
          <a:bodyPr wrap="square" lIns="0" tIns="0" rIns="0" bIns="0" rtlCol="0" anchor="ctr"/>
          <a:lstStyle/>
          <a:p>
            <a:pPr indent="0" marL="0">
              <a:buNone/>
            </a:pPr>
            <a:r>
              <a:rPr lang="en-US" sz="3000" b="1" dirty="0">
                <a:solidFill>
                  <a:srgbClr val="0B1D3A"/>
                </a:solidFill>
                <a:latin typeface="Georgia" pitchFamily="34" charset="0"/>
                <a:ea typeface="Georgia" pitchFamily="34" charset="-122"/>
                <a:cs typeface="Georgia" pitchFamily="34" charset="-120"/>
              </a:rPr>
              <a:t>From Hashing to Blockchain &amp; Edge</a:t>
            </a:r>
            <a:endParaRPr lang="en-US" sz="3000" dirty="0"/>
          </a:p>
        </p:txBody>
      </p:sp>
      <p:sp>
        <p:nvSpPr>
          <p:cNvPr id="3" name="Text 1"/>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5A7184"/>
                </a:solidFill>
              </a:rPr>
              <a:t>8 / 10</a:t>
            </a:r>
            <a:endParaRPr lang="en-US" sz="1000" dirty="0"/>
          </a:p>
        </p:txBody>
      </p:sp>
      <p:sp>
        <p:nvSpPr>
          <p:cNvPr id="4" name="Text 2"/>
          <p:cNvSpPr/>
          <p:nvPr/>
        </p:nvSpPr>
        <p:spPr>
          <a:xfrm>
            <a:off x="457200" y="4709160"/>
            <a:ext cx="2743200" cy="320040"/>
          </a:xfrm>
          <a:prstGeom prst="rect">
            <a:avLst/>
          </a:prstGeom>
          <a:noFill/>
          <a:ln/>
        </p:spPr>
        <p:txBody>
          <a:bodyPr wrap="square" rtlCol="0" anchor="ctr"/>
          <a:lstStyle/>
          <a:p>
            <a:pPr indent="0" marL="0">
              <a:buNone/>
            </a:pPr>
            <a:r>
              <a:rPr lang="en-US" sz="1000" i="1" dirty="0">
                <a:solidFill>
                  <a:srgbClr val="5A7184"/>
                </a:solidFill>
              </a:rPr>
              <a:t>Intro to Computer Science</a:t>
            </a:r>
            <a:endParaRPr lang="en-US" sz="1000" dirty="0"/>
          </a:p>
        </p:txBody>
      </p:sp>
      <p:sp>
        <p:nvSpPr>
          <p:cNvPr id="5" name="Text 3"/>
          <p:cNvSpPr/>
          <p:nvPr/>
        </p:nvSpPr>
        <p:spPr>
          <a:xfrm>
            <a:off x="548640" y="1005840"/>
            <a:ext cx="7315200" cy="365760"/>
          </a:xfrm>
          <a:prstGeom prst="rect">
            <a:avLst/>
          </a:prstGeom>
          <a:noFill/>
          <a:ln/>
        </p:spPr>
        <p:txBody>
          <a:bodyPr wrap="square" rtlCol="0" anchor="ctr"/>
          <a:lstStyle/>
          <a:p>
            <a:pPr indent="0" marL="0">
              <a:buNone/>
            </a:pPr>
            <a:r>
              <a:rPr lang="en-US" sz="1400" i="1" dirty="0">
                <a:solidFill>
                  <a:srgbClr val="5A7184"/>
                </a:solidFill>
              </a:rPr>
              <a:t>What if we chain hashes together?</a:t>
            </a:r>
            <a:endParaRPr lang="en-US" sz="1400" dirty="0"/>
          </a:p>
        </p:txBody>
      </p:sp>
      <p:sp>
        <p:nvSpPr>
          <p:cNvPr id="6" name="Shape 4"/>
          <p:cNvSpPr/>
          <p:nvPr/>
        </p:nvSpPr>
        <p:spPr>
          <a:xfrm>
            <a:off x="365760" y="1417320"/>
            <a:ext cx="256032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7" name="Shape 5"/>
          <p:cNvSpPr/>
          <p:nvPr/>
        </p:nvSpPr>
        <p:spPr>
          <a:xfrm>
            <a:off x="365760" y="1417320"/>
            <a:ext cx="2560320" cy="365760"/>
          </a:xfrm>
          <a:prstGeom prst="rect">
            <a:avLst/>
          </a:prstGeom>
          <a:solidFill>
            <a:srgbClr val="065A82"/>
          </a:solidFill>
          <a:ln/>
        </p:spPr>
      </p:sp>
      <p:sp>
        <p:nvSpPr>
          <p:cNvPr id="8" name="Text 6"/>
          <p:cNvSpPr/>
          <p:nvPr/>
        </p:nvSpPr>
        <p:spPr>
          <a:xfrm>
            <a:off x="365760" y="1417320"/>
            <a:ext cx="2560320" cy="365760"/>
          </a:xfrm>
          <a:prstGeom prst="rect">
            <a:avLst/>
          </a:prstGeom>
          <a:noFill/>
          <a:ln/>
        </p:spPr>
        <p:txBody>
          <a:bodyPr wrap="square" rtlCol="0" anchor="ctr"/>
          <a:lstStyle/>
          <a:p>
            <a:pPr algn="ctr" indent="0" marL="0">
              <a:buNone/>
            </a:pPr>
            <a:r>
              <a:rPr lang="en-US" sz="1300" b="1" dirty="0">
                <a:solidFill>
                  <a:srgbClr val="FFFFFF"/>
                </a:solidFill>
              </a:rPr>
              <a:t>Block 1</a:t>
            </a:r>
            <a:endParaRPr lang="en-US" sz="1300" dirty="0"/>
          </a:p>
        </p:txBody>
      </p:sp>
      <p:sp>
        <p:nvSpPr>
          <p:cNvPr id="9" name="Text 7"/>
          <p:cNvSpPr/>
          <p:nvPr/>
        </p:nvSpPr>
        <p:spPr>
          <a:xfrm>
            <a:off x="502920" y="1828800"/>
            <a:ext cx="2286000" cy="1234440"/>
          </a:xfrm>
          <a:prstGeom prst="rect">
            <a:avLst/>
          </a:prstGeom>
          <a:noFill/>
          <a:ln/>
        </p:spPr>
        <p:txBody>
          <a:bodyPr wrap="square" rtlCol="0" anchor="ctr"/>
          <a:lstStyle/>
          <a:p>
            <a:pPr indent="0" marL="0">
              <a:buNone/>
            </a:pPr>
            <a:r>
              <a:rPr lang="en-US" sz="1000" dirty="0">
                <a:solidFill>
                  <a:srgbClr val="FF6B35"/>
                </a:solidFill>
                <a:latin typeface="Consolas" pitchFamily="34" charset="0"/>
                <a:ea typeface="Consolas" pitchFamily="34" charset="-122"/>
                <a:cs typeface="Consolas" pitchFamily="34" charset="-120"/>
              </a:rPr>
              <a:t>Prev: 0000...</a:t>
            </a:r>
            <a:endParaRPr lang="en-US" sz="1000" dirty="0"/>
          </a:p>
          <a:p>
            <a:pPr indent="0" marL="0">
              <a:buNone/>
            </a:pPr>
            <a:r>
              <a:rPr lang="en-US" sz="1100" dirty="0">
                <a:solidFill>
                  <a:srgbClr val="1A1A2E"/>
                </a:solidFill>
              </a:rPr>
              <a:t>Tx: Alice→Bob $10</a:t>
            </a:r>
            <a:endParaRPr lang="en-US" sz="1000" dirty="0"/>
          </a:p>
          <a:p>
            <a:pPr indent="0" marL="0">
              <a:buNone/>
            </a:pPr>
            <a:r>
              <a:rPr lang="en-US" sz="1000" b="1" dirty="0">
                <a:solidFill>
                  <a:srgbClr val="1C7293"/>
                </a:solidFill>
                <a:latin typeface="Consolas" pitchFamily="34" charset="0"/>
                <a:ea typeface="Consolas" pitchFamily="34" charset="-122"/>
                <a:cs typeface="Consolas" pitchFamily="34" charset="-120"/>
              </a:rPr>
              <a:t>Hash: 3a7f...</a:t>
            </a:r>
            <a:endParaRPr lang="en-US" sz="1000" dirty="0"/>
          </a:p>
        </p:txBody>
      </p:sp>
      <p:sp>
        <p:nvSpPr>
          <p:cNvPr id="10" name="Text 8"/>
          <p:cNvSpPr/>
          <p:nvPr/>
        </p:nvSpPr>
        <p:spPr>
          <a:xfrm>
            <a:off x="2880360" y="1965960"/>
            <a:ext cx="548640" cy="457200"/>
          </a:xfrm>
          <a:prstGeom prst="rect">
            <a:avLst/>
          </a:prstGeom>
          <a:noFill/>
          <a:ln/>
        </p:spPr>
        <p:txBody>
          <a:bodyPr wrap="square" rtlCol="0" anchor="ctr"/>
          <a:lstStyle/>
          <a:p>
            <a:pPr algn="ctr" indent="0" marL="0">
              <a:buNone/>
            </a:pPr>
            <a:r>
              <a:rPr lang="en-US" sz="2400" dirty="0">
                <a:solidFill>
                  <a:srgbClr val="1C7293"/>
                </a:solidFill>
              </a:rPr>
              <a:t>→</a:t>
            </a:r>
            <a:endParaRPr lang="en-US" sz="2400" dirty="0"/>
          </a:p>
        </p:txBody>
      </p:sp>
      <p:sp>
        <p:nvSpPr>
          <p:cNvPr id="11" name="Shape 9"/>
          <p:cNvSpPr/>
          <p:nvPr/>
        </p:nvSpPr>
        <p:spPr>
          <a:xfrm>
            <a:off x="3383280" y="1417320"/>
            <a:ext cx="256032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2" name="Shape 10"/>
          <p:cNvSpPr/>
          <p:nvPr/>
        </p:nvSpPr>
        <p:spPr>
          <a:xfrm>
            <a:off x="3383280" y="1417320"/>
            <a:ext cx="2560320" cy="365760"/>
          </a:xfrm>
          <a:prstGeom prst="rect">
            <a:avLst/>
          </a:prstGeom>
          <a:solidFill>
            <a:srgbClr val="065A82"/>
          </a:solidFill>
          <a:ln/>
        </p:spPr>
      </p:sp>
      <p:sp>
        <p:nvSpPr>
          <p:cNvPr id="13" name="Text 11"/>
          <p:cNvSpPr/>
          <p:nvPr/>
        </p:nvSpPr>
        <p:spPr>
          <a:xfrm>
            <a:off x="3383280" y="1417320"/>
            <a:ext cx="2560320" cy="365760"/>
          </a:xfrm>
          <a:prstGeom prst="rect">
            <a:avLst/>
          </a:prstGeom>
          <a:noFill/>
          <a:ln/>
        </p:spPr>
        <p:txBody>
          <a:bodyPr wrap="square" rtlCol="0" anchor="ctr"/>
          <a:lstStyle/>
          <a:p>
            <a:pPr algn="ctr" indent="0" marL="0">
              <a:buNone/>
            </a:pPr>
            <a:r>
              <a:rPr lang="en-US" sz="1300" b="1" dirty="0">
                <a:solidFill>
                  <a:srgbClr val="FFFFFF"/>
                </a:solidFill>
              </a:rPr>
              <a:t>Block 2</a:t>
            </a:r>
            <a:endParaRPr lang="en-US" sz="1300" dirty="0"/>
          </a:p>
        </p:txBody>
      </p:sp>
      <p:sp>
        <p:nvSpPr>
          <p:cNvPr id="14" name="Text 12"/>
          <p:cNvSpPr/>
          <p:nvPr/>
        </p:nvSpPr>
        <p:spPr>
          <a:xfrm>
            <a:off x="3520440" y="1828800"/>
            <a:ext cx="2286000" cy="1234440"/>
          </a:xfrm>
          <a:prstGeom prst="rect">
            <a:avLst/>
          </a:prstGeom>
          <a:noFill/>
          <a:ln/>
        </p:spPr>
        <p:txBody>
          <a:bodyPr wrap="square" rtlCol="0" anchor="ctr"/>
          <a:lstStyle/>
          <a:p>
            <a:pPr indent="0" marL="0">
              <a:buNone/>
            </a:pPr>
            <a:r>
              <a:rPr lang="en-US" sz="1000" dirty="0">
                <a:solidFill>
                  <a:srgbClr val="FF6B35"/>
                </a:solidFill>
                <a:latin typeface="Consolas" pitchFamily="34" charset="0"/>
                <a:ea typeface="Consolas" pitchFamily="34" charset="-122"/>
                <a:cs typeface="Consolas" pitchFamily="34" charset="-120"/>
              </a:rPr>
              <a:t>Prev: 3a7f...</a:t>
            </a:r>
            <a:endParaRPr lang="en-US" sz="1000" dirty="0"/>
          </a:p>
          <a:p>
            <a:pPr indent="0" marL="0">
              <a:buNone/>
            </a:pPr>
            <a:r>
              <a:rPr lang="en-US" sz="1100" dirty="0">
                <a:solidFill>
                  <a:srgbClr val="1A1A2E"/>
                </a:solidFill>
              </a:rPr>
              <a:t>Tx: Bob→Carol $5</a:t>
            </a:r>
            <a:endParaRPr lang="en-US" sz="1000" dirty="0"/>
          </a:p>
          <a:p>
            <a:pPr indent="0" marL="0">
              <a:buNone/>
            </a:pPr>
            <a:r>
              <a:rPr lang="en-US" sz="1000" b="1" dirty="0">
                <a:solidFill>
                  <a:srgbClr val="1C7293"/>
                </a:solidFill>
                <a:latin typeface="Consolas" pitchFamily="34" charset="0"/>
                <a:ea typeface="Consolas" pitchFamily="34" charset="-122"/>
                <a:cs typeface="Consolas" pitchFamily="34" charset="-120"/>
              </a:rPr>
              <a:t>Hash: 9b2e...</a:t>
            </a:r>
            <a:endParaRPr lang="en-US" sz="1000" dirty="0"/>
          </a:p>
        </p:txBody>
      </p:sp>
      <p:sp>
        <p:nvSpPr>
          <p:cNvPr id="15" name="Text 13"/>
          <p:cNvSpPr/>
          <p:nvPr/>
        </p:nvSpPr>
        <p:spPr>
          <a:xfrm>
            <a:off x="5897880" y="1965960"/>
            <a:ext cx="548640" cy="457200"/>
          </a:xfrm>
          <a:prstGeom prst="rect">
            <a:avLst/>
          </a:prstGeom>
          <a:noFill/>
          <a:ln/>
        </p:spPr>
        <p:txBody>
          <a:bodyPr wrap="square" rtlCol="0" anchor="ctr"/>
          <a:lstStyle/>
          <a:p>
            <a:pPr algn="ctr" indent="0" marL="0">
              <a:buNone/>
            </a:pPr>
            <a:r>
              <a:rPr lang="en-US" sz="2400" dirty="0">
                <a:solidFill>
                  <a:srgbClr val="1C7293"/>
                </a:solidFill>
              </a:rPr>
              <a:t>→</a:t>
            </a:r>
            <a:endParaRPr lang="en-US" sz="2400" dirty="0"/>
          </a:p>
        </p:txBody>
      </p:sp>
      <p:sp>
        <p:nvSpPr>
          <p:cNvPr id="16" name="Shape 14"/>
          <p:cNvSpPr/>
          <p:nvPr/>
        </p:nvSpPr>
        <p:spPr>
          <a:xfrm>
            <a:off x="6400800" y="1417320"/>
            <a:ext cx="2560320" cy="1737360"/>
          </a:xfrm>
          <a:prstGeom prst="rect">
            <a:avLst/>
          </a:prstGeom>
          <a:solidFill>
            <a:srgbClr val="FFFFFF"/>
          </a:solidFill>
          <a:ln/>
          <a:effectLst>
            <a:outerShdw sx="100000" sy="100000" kx="0" ky="0" algn="bl" rotWithShape="0" blurRad="101600" dist="38100" dir="8100000">
              <a:srgbClr val="000000">
                <a:alpha val="12000"/>
              </a:srgbClr>
            </a:outerShdw>
          </a:effectLst>
        </p:spPr>
      </p:sp>
      <p:sp>
        <p:nvSpPr>
          <p:cNvPr id="17" name="Shape 15"/>
          <p:cNvSpPr/>
          <p:nvPr/>
        </p:nvSpPr>
        <p:spPr>
          <a:xfrm>
            <a:off x="6400800" y="1417320"/>
            <a:ext cx="2560320" cy="365760"/>
          </a:xfrm>
          <a:prstGeom prst="rect">
            <a:avLst/>
          </a:prstGeom>
          <a:solidFill>
            <a:srgbClr val="065A82"/>
          </a:solidFill>
          <a:ln/>
        </p:spPr>
      </p:sp>
      <p:sp>
        <p:nvSpPr>
          <p:cNvPr id="18" name="Text 16"/>
          <p:cNvSpPr/>
          <p:nvPr/>
        </p:nvSpPr>
        <p:spPr>
          <a:xfrm>
            <a:off x="6400800" y="1417320"/>
            <a:ext cx="2560320" cy="365760"/>
          </a:xfrm>
          <a:prstGeom prst="rect">
            <a:avLst/>
          </a:prstGeom>
          <a:noFill/>
          <a:ln/>
        </p:spPr>
        <p:txBody>
          <a:bodyPr wrap="square" rtlCol="0" anchor="ctr"/>
          <a:lstStyle/>
          <a:p>
            <a:pPr algn="ctr" indent="0" marL="0">
              <a:buNone/>
            </a:pPr>
            <a:r>
              <a:rPr lang="en-US" sz="1300" b="1" dirty="0">
                <a:solidFill>
                  <a:srgbClr val="FFFFFF"/>
                </a:solidFill>
              </a:rPr>
              <a:t>Block 3</a:t>
            </a:r>
            <a:endParaRPr lang="en-US" sz="1300" dirty="0"/>
          </a:p>
        </p:txBody>
      </p:sp>
      <p:sp>
        <p:nvSpPr>
          <p:cNvPr id="19" name="Text 17"/>
          <p:cNvSpPr/>
          <p:nvPr/>
        </p:nvSpPr>
        <p:spPr>
          <a:xfrm>
            <a:off x="6537960" y="1828800"/>
            <a:ext cx="2286000" cy="1234440"/>
          </a:xfrm>
          <a:prstGeom prst="rect">
            <a:avLst/>
          </a:prstGeom>
          <a:noFill/>
          <a:ln/>
        </p:spPr>
        <p:txBody>
          <a:bodyPr wrap="square" rtlCol="0" anchor="ctr"/>
          <a:lstStyle/>
          <a:p>
            <a:pPr indent="0" marL="0">
              <a:buNone/>
            </a:pPr>
            <a:r>
              <a:rPr lang="en-US" sz="1000" dirty="0">
                <a:solidFill>
                  <a:srgbClr val="FF6B35"/>
                </a:solidFill>
                <a:latin typeface="Consolas" pitchFamily="34" charset="0"/>
                <a:ea typeface="Consolas" pitchFamily="34" charset="-122"/>
                <a:cs typeface="Consolas" pitchFamily="34" charset="-120"/>
              </a:rPr>
              <a:t>Prev: 9b2e...</a:t>
            </a:r>
            <a:endParaRPr lang="en-US" sz="1000" dirty="0"/>
          </a:p>
          <a:p>
            <a:pPr indent="0" marL="0">
              <a:buNone/>
            </a:pPr>
            <a:r>
              <a:rPr lang="en-US" sz="1100" dirty="0">
                <a:solidFill>
                  <a:srgbClr val="1A1A2E"/>
                </a:solidFill>
              </a:rPr>
              <a:t>Tx: Carol→Dave $3</a:t>
            </a:r>
            <a:endParaRPr lang="en-US" sz="1000" dirty="0"/>
          </a:p>
          <a:p>
            <a:pPr indent="0" marL="0">
              <a:buNone/>
            </a:pPr>
            <a:r>
              <a:rPr lang="en-US" sz="1000" b="1" dirty="0">
                <a:solidFill>
                  <a:srgbClr val="1C7293"/>
                </a:solidFill>
                <a:latin typeface="Consolas" pitchFamily="34" charset="0"/>
                <a:ea typeface="Consolas" pitchFamily="34" charset="-122"/>
                <a:cs typeface="Consolas" pitchFamily="34" charset="-120"/>
              </a:rPr>
              <a:t>Hash: c41d...</a:t>
            </a:r>
            <a:endParaRPr lang="en-US" sz="1000" dirty="0"/>
          </a:p>
        </p:txBody>
      </p:sp>
      <p:sp>
        <p:nvSpPr>
          <p:cNvPr id="20" name="Shape 18"/>
          <p:cNvSpPr/>
          <p:nvPr/>
        </p:nvSpPr>
        <p:spPr>
          <a:xfrm>
            <a:off x="548640" y="3291840"/>
            <a:ext cx="8046720" cy="457200"/>
          </a:xfrm>
          <a:prstGeom prst="rect">
            <a:avLst/>
          </a:prstGeom>
          <a:solidFill>
            <a:srgbClr val="FF6B35">
              <a:alpha val="12000"/>
            </a:srgbClr>
          </a:solidFill>
          <a:ln/>
        </p:spPr>
      </p:sp>
      <p:sp>
        <p:nvSpPr>
          <p:cNvPr id="21" name="Text 19"/>
          <p:cNvSpPr/>
          <p:nvPr/>
        </p:nvSpPr>
        <p:spPr>
          <a:xfrm>
            <a:off x="731520" y="3291840"/>
            <a:ext cx="7680960" cy="457200"/>
          </a:xfrm>
          <a:prstGeom prst="rect">
            <a:avLst/>
          </a:prstGeom>
          <a:noFill/>
          <a:ln/>
        </p:spPr>
        <p:txBody>
          <a:bodyPr wrap="square" rtlCol="0" anchor="ctr"/>
          <a:lstStyle/>
          <a:p>
            <a:pPr indent="0" marL="0">
              <a:buNone/>
            </a:pPr>
            <a:r>
              <a:rPr lang="en-US" sz="1200" b="1" dirty="0">
                <a:solidFill>
                  <a:srgbClr val="FF6B35"/>
                </a:solidFill>
              </a:rPr>
              <a:t>Tamper with Block 1? </a:t>
            </a:r>
            <a:pPr indent="0" marL="0">
              <a:buNone/>
            </a:pPr>
            <a:r>
              <a:rPr lang="en-US" sz="1200" dirty="0">
                <a:solidFill>
                  <a:srgbClr val="1A1A2E"/>
                </a:solidFill>
              </a:rPr>
              <a:t>Its hash changes → Block 2’s ‘Prev Hash’ mismatches → entire chain breaks!</a:t>
            </a:r>
            <a:endParaRPr lang="en-US" sz="1200" dirty="0"/>
          </a:p>
        </p:txBody>
      </p:sp>
      <p:sp>
        <p:nvSpPr>
          <p:cNvPr id="22" name="Shape 20"/>
          <p:cNvSpPr/>
          <p:nvPr/>
        </p:nvSpPr>
        <p:spPr>
          <a:xfrm>
            <a:off x="548640" y="3840480"/>
            <a:ext cx="8046720" cy="868680"/>
          </a:xfrm>
          <a:prstGeom prst="rect">
            <a:avLst/>
          </a:prstGeom>
          <a:solidFill>
            <a:srgbClr val="0B1D3A"/>
          </a:solidFill>
          <a:ln/>
          <a:effectLst>
            <a:outerShdw sx="100000" sy="100000" kx="0" ky="0" algn="bl" rotWithShape="0" blurRad="101600" dist="38100" dir="8100000">
              <a:srgbClr val="000000">
                <a:alpha val="12000"/>
              </a:srgbClr>
            </a:outerShdw>
          </a:effectLst>
        </p:spPr>
      </p:sp>
      <p:sp>
        <p:nvSpPr>
          <p:cNvPr id="23" name="Shape 21"/>
          <p:cNvSpPr/>
          <p:nvPr/>
        </p:nvSpPr>
        <p:spPr>
          <a:xfrm>
            <a:off x="548640" y="3840480"/>
            <a:ext cx="73152" cy="868680"/>
          </a:xfrm>
          <a:prstGeom prst="rect">
            <a:avLst/>
          </a:prstGeom>
          <a:solidFill>
            <a:srgbClr val="21D19F"/>
          </a:solidFill>
          <a:ln/>
        </p:spPr>
      </p:sp>
      <p:sp>
        <p:nvSpPr>
          <p:cNvPr id="24" name="Text 22"/>
          <p:cNvSpPr/>
          <p:nvPr/>
        </p:nvSpPr>
        <p:spPr>
          <a:xfrm>
            <a:off x="822960" y="3886200"/>
            <a:ext cx="7589520" cy="777240"/>
          </a:xfrm>
          <a:prstGeom prst="rect">
            <a:avLst/>
          </a:prstGeom>
          <a:noFill/>
          <a:ln/>
        </p:spPr>
        <p:txBody>
          <a:bodyPr wrap="square" rtlCol="0" anchor="ctr"/>
          <a:lstStyle/>
          <a:p>
            <a:pPr indent="0" marL="0">
              <a:buNone/>
            </a:pPr>
            <a:r>
              <a:rPr lang="en-US" sz="1400" b="1" dirty="0">
                <a:solidFill>
                  <a:srgbClr val="21D19F"/>
                </a:solidFill>
              </a:rPr>
              <a:t>Extending to Edge Computing</a:t>
            </a:r>
            <a:endParaRPr lang="en-US" sz="1400" dirty="0"/>
          </a:p>
          <a:p>
            <a:pPr indent="0" marL="0">
              <a:buNone/>
            </a:pPr>
            <a:r>
              <a:rPr lang="en-US" sz="1100" dirty="0">
                <a:solidFill>
                  <a:srgbClr val="EAF4F8"/>
                </a:solidFill>
              </a:rPr>
              <a:t>IoT devices and edge nodes generate data far from the cloud. Hashing lets edge devices verify data integrity locally without trusting a central server — blockchain + hashing enables tamper-proof, decentralized trust at the network edge.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D3A"/>
        </a:solidFill>
      </p:bgPr>
    </p:bg>
    <p:spTree>
      <p:nvGrpSpPr>
        <p:cNvPr id="1" name=""/>
        <p:cNvGrpSpPr/>
        <p:nvPr/>
      </p:nvGrpSpPr>
      <p:grpSpPr>
        <a:xfrm>
          <a:off x="0" y="0"/>
          <a:ext cx="0" cy="0"/>
          <a:chOff x="0" y="0"/>
          <a:chExt cx="0" cy="0"/>
        </a:xfrm>
      </p:grpSpPr>
      <p:sp>
        <p:nvSpPr>
          <p:cNvPr id="2" name="Text 0"/>
          <p:cNvSpPr/>
          <p:nvPr/>
        </p:nvSpPr>
        <p:spPr>
          <a:xfrm>
            <a:off x="548640" y="274320"/>
            <a:ext cx="804672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Quick Exercise</a:t>
            </a:r>
            <a:endParaRPr lang="en-US" sz="3200" dirty="0"/>
          </a:p>
        </p:txBody>
      </p:sp>
      <p:sp>
        <p:nvSpPr>
          <p:cNvPr id="3" name="Text 1"/>
          <p:cNvSpPr/>
          <p:nvPr/>
        </p:nvSpPr>
        <p:spPr>
          <a:xfrm>
            <a:off x="548640" y="868680"/>
            <a:ext cx="4572000" cy="365760"/>
          </a:xfrm>
          <a:prstGeom prst="rect">
            <a:avLst/>
          </a:prstGeom>
          <a:noFill/>
          <a:ln/>
        </p:spPr>
        <p:txBody>
          <a:bodyPr wrap="square" rtlCol="0" anchor="ctr"/>
          <a:lstStyle/>
          <a:p>
            <a:pPr indent="0" marL="0">
              <a:buNone/>
            </a:pPr>
            <a:r>
              <a:rPr lang="en-US" sz="1400" i="1" dirty="0">
                <a:solidFill>
                  <a:srgbClr val="1C7293"/>
                </a:solidFill>
              </a:rPr>
              <a:t>Think – Pair – Share  (2 minutes)</a:t>
            </a:r>
            <a:endParaRPr lang="en-US" sz="1400" dirty="0"/>
          </a:p>
        </p:txBody>
      </p:sp>
      <p:sp>
        <p:nvSpPr>
          <p:cNvPr id="4" name="Text 2"/>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1C7293"/>
                </a:solidFill>
              </a:rPr>
              <a:t>9 / 10</a:t>
            </a:r>
            <a:endParaRPr lang="en-US" sz="1000" dirty="0"/>
          </a:p>
        </p:txBody>
      </p:sp>
      <p:sp>
        <p:nvSpPr>
          <p:cNvPr id="5" name="Shape 3"/>
          <p:cNvSpPr/>
          <p:nvPr/>
        </p:nvSpPr>
        <p:spPr>
          <a:xfrm>
            <a:off x="548640" y="1463040"/>
            <a:ext cx="8046720" cy="1325880"/>
          </a:xfrm>
          <a:prstGeom prst="rect">
            <a:avLst/>
          </a:prstGeom>
          <a:solidFill>
            <a:srgbClr val="065A82"/>
          </a:solidFill>
          <a:ln/>
        </p:spPr>
      </p:sp>
      <p:sp>
        <p:nvSpPr>
          <p:cNvPr id="6" name="Text 4"/>
          <p:cNvSpPr/>
          <p:nvPr/>
        </p:nvSpPr>
        <p:spPr>
          <a:xfrm>
            <a:off x="777240" y="1600200"/>
            <a:ext cx="640080" cy="457200"/>
          </a:xfrm>
          <a:prstGeom prst="rect">
            <a:avLst/>
          </a:prstGeom>
          <a:noFill/>
          <a:ln/>
        </p:spPr>
        <p:txBody>
          <a:bodyPr wrap="square" rtlCol="0" anchor="ctr"/>
          <a:lstStyle/>
          <a:p>
            <a:pPr indent="0" marL="0">
              <a:buNone/>
            </a:pPr>
            <a:r>
              <a:rPr lang="en-US" sz="1800" b="1" dirty="0">
                <a:solidFill>
                  <a:srgbClr val="21D19F"/>
                </a:solidFill>
                <a:latin typeface="Georgia" pitchFamily="34" charset="0"/>
                <a:ea typeface="Georgia" pitchFamily="34" charset="-122"/>
                <a:cs typeface="Georgia" pitchFamily="34" charset="-120"/>
              </a:rPr>
              <a:t>Q1</a:t>
            </a:r>
            <a:endParaRPr lang="en-US" sz="1800" dirty="0"/>
          </a:p>
        </p:txBody>
      </p:sp>
      <p:sp>
        <p:nvSpPr>
          <p:cNvPr id="7" name="Text 5"/>
          <p:cNvSpPr/>
          <p:nvPr/>
        </p:nvSpPr>
        <p:spPr>
          <a:xfrm>
            <a:off x="1371600" y="1554480"/>
            <a:ext cx="6949440" cy="685800"/>
          </a:xfrm>
          <a:prstGeom prst="rect">
            <a:avLst/>
          </a:prstGeom>
          <a:noFill/>
          <a:ln/>
        </p:spPr>
        <p:txBody>
          <a:bodyPr wrap="square" rtlCol="0" anchor="ctr"/>
          <a:lstStyle/>
          <a:p>
            <a:pPr indent="0" marL="0">
              <a:buNone/>
            </a:pPr>
            <a:r>
              <a:rPr lang="en-US" sz="1600" dirty="0">
                <a:solidFill>
                  <a:srgbClr val="FFFFFF"/>
                </a:solidFill>
              </a:rPr>
              <a:t>If two students submit the same homework file, will their hashes match?</a:t>
            </a:r>
            <a:endParaRPr lang="en-US" sz="1600" dirty="0"/>
          </a:p>
        </p:txBody>
      </p:sp>
      <p:sp>
        <p:nvSpPr>
          <p:cNvPr id="8" name="Text 6"/>
          <p:cNvSpPr/>
          <p:nvPr/>
        </p:nvSpPr>
        <p:spPr>
          <a:xfrm>
            <a:off x="1371600" y="2240280"/>
            <a:ext cx="6949440" cy="411480"/>
          </a:xfrm>
          <a:prstGeom prst="rect">
            <a:avLst/>
          </a:prstGeom>
          <a:noFill/>
          <a:ln/>
        </p:spPr>
        <p:txBody>
          <a:bodyPr wrap="square" rtlCol="0" anchor="ctr"/>
          <a:lstStyle/>
          <a:p>
            <a:pPr indent="0" marL="0">
              <a:buNone/>
            </a:pPr>
            <a:r>
              <a:rPr lang="en-US" sz="1300" i="1" dirty="0">
                <a:solidFill>
                  <a:srgbClr val="1C7293"/>
                </a:solidFill>
              </a:rPr>
              <a:t>Think about Property #1…</a:t>
            </a:r>
            <a:endParaRPr lang="en-US" sz="1300" dirty="0"/>
          </a:p>
        </p:txBody>
      </p:sp>
      <p:sp>
        <p:nvSpPr>
          <p:cNvPr id="9" name="Shape 7"/>
          <p:cNvSpPr/>
          <p:nvPr/>
        </p:nvSpPr>
        <p:spPr>
          <a:xfrm>
            <a:off x="548640" y="3017520"/>
            <a:ext cx="8046720" cy="1325880"/>
          </a:xfrm>
          <a:prstGeom prst="rect">
            <a:avLst/>
          </a:prstGeom>
          <a:solidFill>
            <a:srgbClr val="065A82"/>
          </a:solidFill>
          <a:ln/>
        </p:spPr>
      </p:sp>
      <p:sp>
        <p:nvSpPr>
          <p:cNvPr id="10" name="Text 8"/>
          <p:cNvSpPr/>
          <p:nvPr/>
        </p:nvSpPr>
        <p:spPr>
          <a:xfrm>
            <a:off x="777240" y="3154680"/>
            <a:ext cx="640080" cy="457200"/>
          </a:xfrm>
          <a:prstGeom prst="rect">
            <a:avLst/>
          </a:prstGeom>
          <a:noFill/>
          <a:ln/>
        </p:spPr>
        <p:txBody>
          <a:bodyPr wrap="square" rtlCol="0" anchor="ctr"/>
          <a:lstStyle/>
          <a:p>
            <a:pPr indent="0" marL="0">
              <a:buNone/>
            </a:pPr>
            <a:r>
              <a:rPr lang="en-US" sz="1800" b="1" dirty="0">
                <a:solidFill>
                  <a:srgbClr val="21D19F"/>
                </a:solidFill>
                <a:latin typeface="Georgia" pitchFamily="34" charset="0"/>
                <a:ea typeface="Georgia" pitchFamily="34" charset="-122"/>
                <a:cs typeface="Georgia" pitchFamily="34" charset="-120"/>
              </a:rPr>
              <a:t>Q2</a:t>
            </a:r>
            <a:endParaRPr lang="en-US" sz="1800" dirty="0"/>
          </a:p>
        </p:txBody>
      </p:sp>
      <p:sp>
        <p:nvSpPr>
          <p:cNvPr id="11" name="Text 9"/>
          <p:cNvSpPr/>
          <p:nvPr/>
        </p:nvSpPr>
        <p:spPr>
          <a:xfrm>
            <a:off x="1371600" y="3108960"/>
            <a:ext cx="6949440" cy="685800"/>
          </a:xfrm>
          <a:prstGeom prst="rect">
            <a:avLst/>
          </a:prstGeom>
          <a:noFill/>
          <a:ln/>
        </p:spPr>
        <p:txBody>
          <a:bodyPr wrap="square" rtlCol="0" anchor="ctr"/>
          <a:lstStyle/>
          <a:p>
            <a:pPr indent="0" marL="0">
              <a:buNone/>
            </a:pPr>
            <a:r>
              <a:rPr lang="en-US" sz="1600" dirty="0">
                <a:solidFill>
                  <a:srgbClr val="FFFFFF"/>
                </a:solidFill>
              </a:rPr>
              <a:t>Can a hash function be used to compress files so you can decompress them later? Why or why not?</a:t>
            </a:r>
            <a:endParaRPr lang="en-US" sz="1600" dirty="0"/>
          </a:p>
        </p:txBody>
      </p:sp>
      <p:sp>
        <p:nvSpPr>
          <p:cNvPr id="12" name="Text 10"/>
          <p:cNvSpPr/>
          <p:nvPr/>
        </p:nvSpPr>
        <p:spPr>
          <a:xfrm>
            <a:off x="1371600" y="3794760"/>
            <a:ext cx="6949440" cy="411480"/>
          </a:xfrm>
          <a:prstGeom prst="rect">
            <a:avLst/>
          </a:prstGeom>
          <a:noFill/>
          <a:ln/>
        </p:spPr>
        <p:txBody>
          <a:bodyPr wrap="square" rtlCol="0" anchor="ctr"/>
          <a:lstStyle/>
          <a:p>
            <a:pPr indent="0" marL="0">
              <a:buNone/>
            </a:pPr>
            <a:r>
              <a:rPr lang="en-US" sz="1300" i="1" dirty="0">
                <a:solidFill>
                  <a:srgbClr val="1C7293"/>
                </a:solidFill>
              </a:rPr>
              <a:t>Think about Property #2…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D3A"/>
        </a:solidFill>
      </p:bgPr>
    </p:bg>
    <p:spTree>
      <p:nvGrpSpPr>
        <p:cNvPr id="1" name=""/>
        <p:cNvGrpSpPr/>
        <p:nvPr/>
      </p:nvGrpSpPr>
      <p:grpSpPr>
        <a:xfrm>
          <a:off x="0" y="0"/>
          <a:ext cx="0" cy="0"/>
          <a:chOff x="0" y="0"/>
          <a:chExt cx="0" cy="0"/>
        </a:xfrm>
      </p:grpSpPr>
      <p:sp>
        <p:nvSpPr>
          <p:cNvPr id="2" name="Shape 0"/>
          <p:cNvSpPr/>
          <p:nvPr/>
        </p:nvSpPr>
        <p:spPr>
          <a:xfrm>
            <a:off x="-1371600" y="3200400"/>
            <a:ext cx="3657600" cy="3657600"/>
          </a:xfrm>
          <a:prstGeom prst="ellipse">
            <a:avLst/>
          </a:prstGeom>
          <a:solidFill>
            <a:srgbClr val="065A82">
              <a:alpha val="50000"/>
            </a:srgbClr>
          </a:solidFill>
          <a:ln/>
        </p:spPr>
      </p:sp>
      <p:sp>
        <p:nvSpPr>
          <p:cNvPr id="3" name="Shape 1"/>
          <p:cNvSpPr/>
          <p:nvPr/>
        </p:nvSpPr>
        <p:spPr>
          <a:xfrm>
            <a:off x="7772400" y="-914400"/>
            <a:ext cx="2743200" cy="2743200"/>
          </a:xfrm>
          <a:prstGeom prst="ellipse">
            <a:avLst/>
          </a:prstGeom>
          <a:solidFill>
            <a:srgbClr val="1C7293">
              <a:alpha val="50000"/>
            </a:srgbClr>
          </a:solidFill>
          <a:ln/>
        </p:spPr>
      </p:sp>
      <p:sp>
        <p:nvSpPr>
          <p:cNvPr id="4" name="Text 2"/>
          <p:cNvSpPr/>
          <p:nvPr/>
        </p:nvSpPr>
        <p:spPr>
          <a:xfrm>
            <a:off x="548640" y="274320"/>
            <a:ext cx="804672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5" name="Shape 3"/>
          <p:cNvSpPr/>
          <p:nvPr/>
        </p:nvSpPr>
        <p:spPr>
          <a:xfrm>
            <a:off x="548640" y="1188720"/>
            <a:ext cx="8046720" cy="548640"/>
          </a:xfrm>
          <a:prstGeom prst="rect">
            <a:avLst/>
          </a:prstGeom>
          <a:solidFill>
            <a:srgbClr val="065A82">
              <a:alpha val="80000"/>
            </a:srgbClr>
          </a:solidFill>
          <a:ln/>
        </p:spPr>
      </p:sp>
      <p:sp>
        <p:nvSpPr>
          <p:cNvPr id="6" name="Shape 4"/>
          <p:cNvSpPr/>
          <p:nvPr/>
        </p:nvSpPr>
        <p:spPr>
          <a:xfrm>
            <a:off x="548640" y="1188720"/>
            <a:ext cx="54864" cy="548640"/>
          </a:xfrm>
          <a:prstGeom prst="rect">
            <a:avLst/>
          </a:prstGeom>
          <a:solidFill>
            <a:srgbClr val="21D19F"/>
          </a:solidFill>
          <a:ln/>
        </p:spPr>
      </p:sp>
      <p:sp>
        <p:nvSpPr>
          <p:cNvPr id="7" name="Text 5"/>
          <p:cNvSpPr/>
          <p:nvPr/>
        </p:nvSpPr>
        <p:spPr>
          <a:xfrm>
            <a:off x="822960" y="1188720"/>
            <a:ext cx="7589520" cy="548640"/>
          </a:xfrm>
          <a:prstGeom prst="rect">
            <a:avLst/>
          </a:prstGeom>
          <a:noFill/>
          <a:ln/>
        </p:spPr>
        <p:txBody>
          <a:bodyPr wrap="square" rtlCol="0" anchor="ctr"/>
          <a:lstStyle/>
          <a:p>
            <a:pPr indent="0" marL="0">
              <a:buNone/>
            </a:pPr>
            <a:r>
              <a:rPr lang="en-US" sz="1600" dirty="0">
                <a:solidFill>
                  <a:srgbClr val="FFFFFF"/>
                </a:solidFill>
              </a:rPr>
              <a:t>A hash function maps any input to a fixed-size output</a:t>
            </a:r>
            <a:endParaRPr lang="en-US" sz="1600" dirty="0"/>
          </a:p>
        </p:txBody>
      </p:sp>
      <p:sp>
        <p:nvSpPr>
          <p:cNvPr id="8" name="Shape 6"/>
          <p:cNvSpPr/>
          <p:nvPr/>
        </p:nvSpPr>
        <p:spPr>
          <a:xfrm>
            <a:off x="548640" y="1874520"/>
            <a:ext cx="8046720" cy="548640"/>
          </a:xfrm>
          <a:prstGeom prst="rect">
            <a:avLst/>
          </a:prstGeom>
          <a:solidFill>
            <a:srgbClr val="065A82">
              <a:alpha val="80000"/>
            </a:srgbClr>
          </a:solidFill>
          <a:ln/>
        </p:spPr>
      </p:sp>
      <p:sp>
        <p:nvSpPr>
          <p:cNvPr id="9" name="Shape 7"/>
          <p:cNvSpPr/>
          <p:nvPr/>
        </p:nvSpPr>
        <p:spPr>
          <a:xfrm>
            <a:off x="548640" y="1874520"/>
            <a:ext cx="54864" cy="548640"/>
          </a:xfrm>
          <a:prstGeom prst="rect">
            <a:avLst/>
          </a:prstGeom>
          <a:solidFill>
            <a:srgbClr val="21D19F"/>
          </a:solidFill>
          <a:ln/>
        </p:spPr>
      </p:sp>
      <p:sp>
        <p:nvSpPr>
          <p:cNvPr id="10" name="Text 8"/>
          <p:cNvSpPr/>
          <p:nvPr/>
        </p:nvSpPr>
        <p:spPr>
          <a:xfrm>
            <a:off x="822960" y="1874520"/>
            <a:ext cx="7589520" cy="548640"/>
          </a:xfrm>
          <a:prstGeom prst="rect">
            <a:avLst/>
          </a:prstGeom>
          <a:noFill/>
          <a:ln/>
        </p:spPr>
        <p:txBody>
          <a:bodyPr wrap="square" rtlCol="0" anchor="ctr"/>
          <a:lstStyle/>
          <a:p>
            <a:pPr indent="0" marL="0">
              <a:buNone/>
            </a:pPr>
            <a:r>
              <a:rPr lang="en-US" sz="1600" dirty="0">
                <a:solidFill>
                  <a:srgbClr val="FFFFFF"/>
                </a:solidFill>
              </a:rPr>
              <a:t>Three properties: deterministic, one-way, collision resistant</a:t>
            </a:r>
            <a:endParaRPr lang="en-US" sz="1600" dirty="0"/>
          </a:p>
        </p:txBody>
      </p:sp>
      <p:sp>
        <p:nvSpPr>
          <p:cNvPr id="11" name="Shape 9"/>
          <p:cNvSpPr/>
          <p:nvPr/>
        </p:nvSpPr>
        <p:spPr>
          <a:xfrm>
            <a:off x="548640" y="2560320"/>
            <a:ext cx="8046720" cy="548640"/>
          </a:xfrm>
          <a:prstGeom prst="rect">
            <a:avLst/>
          </a:prstGeom>
          <a:solidFill>
            <a:srgbClr val="065A82">
              <a:alpha val="80000"/>
            </a:srgbClr>
          </a:solidFill>
          <a:ln/>
        </p:spPr>
      </p:sp>
      <p:sp>
        <p:nvSpPr>
          <p:cNvPr id="12" name="Shape 10"/>
          <p:cNvSpPr/>
          <p:nvPr/>
        </p:nvSpPr>
        <p:spPr>
          <a:xfrm>
            <a:off x="548640" y="2560320"/>
            <a:ext cx="54864" cy="548640"/>
          </a:xfrm>
          <a:prstGeom prst="rect">
            <a:avLst/>
          </a:prstGeom>
          <a:solidFill>
            <a:srgbClr val="21D19F"/>
          </a:solidFill>
          <a:ln/>
        </p:spPr>
      </p:sp>
      <p:sp>
        <p:nvSpPr>
          <p:cNvPr id="13" name="Text 11"/>
          <p:cNvSpPr/>
          <p:nvPr/>
        </p:nvSpPr>
        <p:spPr>
          <a:xfrm>
            <a:off x="822960" y="2560320"/>
            <a:ext cx="7589520" cy="548640"/>
          </a:xfrm>
          <a:prstGeom prst="rect">
            <a:avLst/>
          </a:prstGeom>
          <a:noFill/>
          <a:ln/>
        </p:spPr>
        <p:txBody>
          <a:bodyPr wrap="square" rtlCol="0" anchor="ctr"/>
          <a:lstStyle/>
          <a:p>
            <a:pPr indent="0" marL="0">
              <a:buNone/>
            </a:pPr>
            <a:r>
              <a:rPr lang="en-US" sz="1600" dirty="0">
                <a:solidFill>
                  <a:srgbClr val="FFFFFF"/>
                </a:solidFill>
              </a:rPr>
              <a:t>Used everywhere: passwords, file integrity, blockchain</a:t>
            </a:r>
            <a:endParaRPr lang="en-US" sz="1600" dirty="0"/>
          </a:p>
        </p:txBody>
      </p:sp>
      <p:sp>
        <p:nvSpPr>
          <p:cNvPr id="14" name="Shape 12"/>
          <p:cNvSpPr/>
          <p:nvPr/>
        </p:nvSpPr>
        <p:spPr>
          <a:xfrm>
            <a:off x="548640" y="3246120"/>
            <a:ext cx="8046720" cy="548640"/>
          </a:xfrm>
          <a:prstGeom prst="rect">
            <a:avLst/>
          </a:prstGeom>
          <a:solidFill>
            <a:srgbClr val="065A82">
              <a:alpha val="80000"/>
            </a:srgbClr>
          </a:solidFill>
          <a:ln/>
        </p:spPr>
      </p:sp>
      <p:sp>
        <p:nvSpPr>
          <p:cNvPr id="15" name="Shape 13"/>
          <p:cNvSpPr/>
          <p:nvPr/>
        </p:nvSpPr>
        <p:spPr>
          <a:xfrm>
            <a:off x="548640" y="3246120"/>
            <a:ext cx="54864" cy="548640"/>
          </a:xfrm>
          <a:prstGeom prst="rect">
            <a:avLst/>
          </a:prstGeom>
          <a:solidFill>
            <a:srgbClr val="21D19F"/>
          </a:solidFill>
          <a:ln/>
        </p:spPr>
      </p:sp>
      <p:sp>
        <p:nvSpPr>
          <p:cNvPr id="16" name="Text 14"/>
          <p:cNvSpPr/>
          <p:nvPr/>
        </p:nvSpPr>
        <p:spPr>
          <a:xfrm>
            <a:off x="822960" y="3246120"/>
            <a:ext cx="7589520" cy="548640"/>
          </a:xfrm>
          <a:prstGeom prst="rect">
            <a:avLst/>
          </a:prstGeom>
          <a:noFill/>
          <a:ln/>
        </p:spPr>
        <p:txBody>
          <a:bodyPr wrap="square" rtlCol="0" anchor="ctr"/>
          <a:lstStyle/>
          <a:p>
            <a:pPr indent="0" marL="0">
              <a:buNone/>
            </a:pPr>
            <a:r>
              <a:rPr lang="en-US" sz="1600" dirty="0">
                <a:solidFill>
                  <a:srgbClr val="FFFFFF"/>
                </a:solidFill>
              </a:rPr>
              <a:t>Changing one bit of input changes the entire hash (avalanche effect)</a:t>
            </a:r>
            <a:endParaRPr lang="en-US" sz="1600" dirty="0"/>
          </a:p>
        </p:txBody>
      </p:sp>
      <p:sp>
        <p:nvSpPr>
          <p:cNvPr id="17" name="Shape 15"/>
          <p:cNvSpPr/>
          <p:nvPr/>
        </p:nvSpPr>
        <p:spPr>
          <a:xfrm>
            <a:off x="548640" y="4023360"/>
            <a:ext cx="8046720" cy="640080"/>
          </a:xfrm>
          <a:prstGeom prst="rect">
            <a:avLst/>
          </a:prstGeom>
          <a:solidFill>
            <a:srgbClr val="1C7293">
              <a:alpha val="30000"/>
            </a:srgbClr>
          </a:solidFill>
          <a:ln/>
        </p:spPr>
      </p:sp>
      <p:sp>
        <p:nvSpPr>
          <p:cNvPr id="18" name="Text 16"/>
          <p:cNvSpPr/>
          <p:nvPr/>
        </p:nvSpPr>
        <p:spPr>
          <a:xfrm>
            <a:off x="777240" y="4023360"/>
            <a:ext cx="7589520" cy="640080"/>
          </a:xfrm>
          <a:prstGeom prst="rect">
            <a:avLst/>
          </a:prstGeom>
          <a:noFill/>
          <a:ln/>
        </p:spPr>
        <p:txBody>
          <a:bodyPr wrap="square" rtlCol="0" anchor="ctr"/>
          <a:lstStyle/>
          <a:p>
            <a:pPr indent="0" marL="0">
              <a:buNone/>
            </a:pPr>
            <a:r>
              <a:rPr lang="en-US" sz="1500" b="1" dirty="0">
                <a:solidFill>
                  <a:srgbClr val="21D19F"/>
                </a:solidFill>
              </a:rPr>
              <a:t>Next class: </a:t>
            </a:r>
            <a:pPr indent="0" marL="0">
              <a:buNone/>
            </a:pPr>
            <a:r>
              <a:rPr lang="en-US" sz="1500" dirty="0">
                <a:solidFill>
                  <a:srgbClr val="FFFFFF"/>
                </a:solidFill>
              </a:rPr>
              <a:t>Encryption vs. Hashing — What’s the difference?</a:t>
            </a:r>
            <a:endParaRPr lang="en-US" sz="1500" dirty="0"/>
          </a:p>
        </p:txBody>
      </p:sp>
      <p:sp>
        <p:nvSpPr>
          <p:cNvPr id="19" name="Text 17"/>
          <p:cNvSpPr/>
          <p:nvPr/>
        </p:nvSpPr>
        <p:spPr>
          <a:xfrm>
            <a:off x="8046720" y="4709160"/>
            <a:ext cx="914400" cy="320040"/>
          </a:xfrm>
          <a:prstGeom prst="rect">
            <a:avLst/>
          </a:prstGeom>
          <a:noFill/>
          <a:ln/>
        </p:spPr>
        <p:txBody>
          <a:bodyPr wrap="square" rtlCol="0" anchor="ctr"/>
          <a:lstStyle/>
          <a:p>
            <a:pPr algn="r" indent="0" marL="0">
              <a:buNone/>
            </a:pPr>
            <a:r>
              <a:rPr lang="en-US" sz="1000" dirty="0">
                <a:solidFill>
                  <a:srgbClr val="1C7293"/>
                </a:solidFill>
              </a:rPr>
              <a:t>10 / 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Hashing: From Passwords to Blockchain</dc:title>
  <dc:subject>PptxGenJS Presentation</dc:subject>
  <dc:creator>Jiarui Zhang</dc:creator>
  <cp:lastModifiedBy>Jiarui Zhang</cp:lastModifiedBy>
  <cp:revision>1</cp:revision>
  <dcterms:created xsi:type="dcterms:W3CDTF">2026-03-30T06:18:52Z</dcterms:created>
  <dcterms:modified xsi:type="dcterms:W3CDTF">2026-03-30T06:18:52Z</dcterms:modified>
</cp:coreProperties>
</file>